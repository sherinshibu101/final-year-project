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10" y="9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3748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9363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042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B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0" y="640080"/>
            <a:ext cx="36576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257800" y="731520"/>
            <a:ext cx="665683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Security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for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Systems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257800" y="2743200"/>
            <a:ext cx="6656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by,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486400" y="3017520"/>
            <a:ext cx="6656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Swapna M.P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591899" y="381332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Sherin Shibu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902973" y="3830868"/>
            <a:ext cx="2982437" cy="422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0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AM.EN.U4CSE22355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660136" y="4059329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Toufeeq SK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940296" y="40845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0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AM.EN.U4CSE22356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0" y="4344145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Varun Dipu Sankar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940296" y="435553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0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AM.EN.U4CSE22359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486400" y="458413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Harini Sivakumar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940296" y="4615387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0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AM.EN.U4CSE22363</a:t>
            </a:r>
            <a:endParaRPr lang="en-US" sz="125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77" y="2039448"/>
            <a:ext cx="4184303" cy="11243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1274552" cy="27432"/>
          </a:xfrm>
          <a:prstGeom prst="rect">
            <a:avLst/>
          </a:prstGeom>
          <a:solidFill>
            <a:srgbClr val="C0305A"/>
          </a:solidFill>
          <a:ln w="12700">
            <a:solidFill>
              <a:srgbClr val="C030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932688"/>
            <a:ext cx="347472" cy="347472"/>
          </a:xfrm>
          <a:prstGeom prst="ellipse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326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87552" y="896112"/>
            <a:ext cx="10515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02920" y="1435608"/>
            <a:ext cx="347472" cy="347472"/>
          </a:xfrm>
          <a:prstGeom prst="ellipse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356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7552" y="1399032"/>
            <a:ext cx="10515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02920" y="1938528"/>
            <a:ext cx="347472" cy="347472"/>
          </a:xfrm>
          <a:prstGeom prst="ellipse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385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87552" y="1901952"/>
            <a:ext cx="10515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Overview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02920" y="2441448"/>
            <a:ext cx="347472" cy="347472"/>
          </a:xfrm>
          <a:prstGeom prst="ellipse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4414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87552" y="2404872"/>
            <a:ext cx="10515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/ Design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02920" y="2944368"/>
            <a:ext cx="347472" cy="347472"/>
          </a:xfrm>
          <a:prstGeom prst="ellipse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9443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87552" y="2907792"/>
            <a:ext cx="10515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502920" y="3447288"/>
            <a:ext cx="347472" cy="347472"/>
          </a:xfrm>
          <a:prstGeom prst="ellipse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4472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87552" y="3410712"/>
            <a:ext cx="10515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502920" y="3950208"/>
            <a:ext cx="347472" cy="347472"/>
          </a:xfrm>
          <a:prstGeom prst="ellipse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9502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87552" y="3913632"/>
            <a:ext cx="10515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Analysis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502920" y="4453128"/>
            <a:ext cx="347472" cy="347472"/>
          </a:xfrm>
          <a:prstGeom prst="ellipse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4531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87552" y="4416552"/>
            <a:ext cx="10515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502920" y="4956048"/>
            <a:ext cx="347472" cy="347472"/>
          </a:xfrm>
          <a:prstGeom prst="ellipse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9560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9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87552" y="4919472"/>
            <a:ext cx="10515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502920" y="5458968"/>
            <a:ext cx="347472" cy="347472"/>
          </a:xfrm>
          <a:prstGeom prst="ellipse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5458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87552" y="5422392"/>
            <a:ext cx="10515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550" dirty="0"/>
          </a:p>
        </p:txBody>
      </p:sp>
      <p:sp>
        <p:nvSpPr>
          <p:cNvPr id="34" name="Shape 32"/>
          <p:cNvSpPr/>
          <p:nvPr/>
        </p:nvSpPr>
        <p:spPr>
          <a:xfrm>
            <a:off x="502920" y="5961888"/>
            <a:ext cx="347472" cy="347472"/>
          </a:xfrm>
          <a:prstGeom prst="ellipse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59618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11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87552" y="5925312"/>
            <a:ext cx="10515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Status</a:t>
            </a:r>
            <a:endParaRPr lang="en-US" sz="1550" dirty="0"/>
          </a:p>
        </p:txBody>
      </p:sp>
      <p:sp>
        <p:nvSpPr>
          <p:cNvPr id="37" name="Shape 35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8B1040"/>
          </a:solidFill>
          <a:ln w="12700">
            <a:solidFill>
              <a:srgbClr val="8B10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4592" y="6492240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6492240"/>
            <a:ext cx="9628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Zero Trust Security Framework for Healthcare Systems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177272" y="649224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</a:rPr>
              <a:t>AMRITA VISHWA VIDYAPEETHAM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1274552" cy="27432"/>
          </a:xfrm>
          <a:prstGeom prst="rect">
            <a:avLst/>
          </a:prstGeom>
          <a:solidFill>
            <a:srgbClr val="C0305A"/>
          </a:solidFill>
          <a:ln w="12700">
            <a:solidFill>
              <a:srgbClr val="C030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04672"/>
            <a:ext cx="3657600" cy="914400"/>
          </a:xfrm>
          <a:prstGeom prst="rect">
            <a:avLst/>
          </a:prstGeom>
          <a:solidFill>
            <a:srgbClr val="FDE8E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1208" y="822960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21208" y="120700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healthcare </a:t>
            </a:r>
            <a:r>
              <a:rPr lang="en-US" sz="1100" dirty="0" smtClean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</a:t>
            </a:r>
            <a:r>
              <a:rPr lang="en-US" sz="11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by ransomware (2023)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5112" y="804672"/>
            <a:ext cx="3657600" cy="914400"/>
          </a:xfrm>
          <a:prstGeom prst="rect">
            <a:avLst/>
          </a:prstGeom>
          <a:solidFill>
            <a:srgbClr val="EEF0F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840" y="822960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434840" y="120700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"Never trust, always verify" — new paradigm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38744" y="804672"/>
            <a:ext cx="3657600" cy="914400"/>
          </a:xfrm>
          <a:prstGeom prst="rect">
            <a:avLst/>
          </a:prstGeom>
          <a:solidFill>
            <a:srgbClr val="E8FDE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48472" y="822960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+ </a:t>
            </a:r>
            <a:r>
              <a:rPr lang="en-US" sz="2000" b="1" dirty="0" err="1" smtClean="0">
                <a:solidFill>
                  <a:srgbClr val="9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Microsegmentation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348472" y="120700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monitoring + dynamic network isolation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1828800"/>
            <a:ext cx="11365992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has rapidly adopted EHRs, </a:t>
            </a:r>
            <a:r>
              <a:rPr lang="en-US" sz="135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Of Things </a:t>
            </a: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devices, and cloud </a:t>
            </a:r>
            <a:r>
              <a:rPr lang="en-US" sz="135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</a:t>
            </a: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dramatically expanding the attack surface and creating new entry points for adversaries.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perimeter-based security trusts all internal users by default </a:t>
            </a:r>
            <a:r>
              <a:rPr lang="en-US" sz="135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fundamentally flawed assumption exploited by ransomware, phishing, and insider threats.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Zero Trust Architecture (ZTA) principle — "never trust, always verify"  </a:t>
            </a:r>
            <a:r>
              <a:rPr lang="en-US" sz="135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</a:t>
            </a: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identity and device verification before any access is granted, regardless of location.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Detection and Response (EDR) solutions provide real-time visibility into processes, file changes, network traffic, and logs on every critical endpoint.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microsegmentation divides the infrastructure into isolated segments, preventing lateral movement and containing breaches to a single zone if an endpoint is compromised.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SecureHealthCare combines both: Phase I delivers identity-based access control (IAM, SDP, MFA, JWT), Phase II delivers continuous telemetry, hybrid detection, and automated response.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is containerized in Docker Compose with 12 microservices, proving architectural feasibility for real-world healthcare deployment.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8B1040"/>
          </a:solidFill>
          <a:ln w="12700">
            <a:solidFill>
              <a:srgbClr val="8B10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" y="6492240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9628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Zero Trust Security Framework for Healthcare Systems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177272" y="649224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</a:rPr>
              <a:t>AMRITA VISHWA VIDYAPEETHAM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1274552" cy="27432"/>
          </a:xfrm>
          <a:prstGeom prst="rect">
            <a:avLst/>
          </a:prstGeom>
          <a:solidFill>
            <a:srgbClr val="C0305A"/>
          </a:solidFill>
          <a:ln w="12700">
            <a:solidFill>
              <a:srgbClr val="C030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22960"/>
            <a:ext cx="5440680" cy="365760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Problem Statement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243584"/>
            <a:ext cx="544068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perimeter security trusts all internal users by default </a:t>
            </a:r>
            <a:r>
              <a:rPr lang="en-US" sz="135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inadequate for modern healthcare environments.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EHRs, IoT medical devices, and administrative systems coexist in shared networks with insufficient segmentation.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breaches compromise sensitive patient data, disrupting hospital operations and endangering lives.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are fragmented — no integrated, adaptive, and auditable defense mechanism exists.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with SDG 16: Peace, Justice and Strong Institutions — enabling accountability and trust in healthcare.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35040" y="822960"/>
            <a:ext cx="36576" cy="525780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63640" y="822960"/>
            <a:ext cx="5486400" cy="3657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8229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Objectives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63640" y="1243584"/>
            <a:ext cx="54864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EDR solutions for real-time threat detection across critical healthcare endpoints.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microsegmentation to control access, reduce lateral movement, and strengthen network security.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endpoint monitoring agents on critical systems for continuous process, file, and network visibility.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security monitoring using hybrid detection: rule-based signatures + ML-based anomaly analysis.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automated responses — token revocation, access restriction, network isolation — during simulated attacks.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8B1040"/>
          </a:solidFill>
          <a:ln w="12700">
            <a:solidFill>
              <a:srgbClr val="8B1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" y="6492240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6492240"/>
            <a:ext cx="9628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Zero Trust Security Framework for Healthcare Systems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177272" y="649224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</a:rPr>
              <a:t>AMRITA VISHWA VIDYAPEETHAM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Overview (1 of 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1274552" cy="27432"/>
          </a:xfrm>
          <a:prstGeom prst="rect">
            <a:avLst/>
          </a:prstGeom>
          <a:solidFill>
            <a:srgbClr val="C0305A"/>
          </a:solidFill>
          <a:ln w="12700">
            <a:solidFill>
              <a:srgbClr val="C030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04672"/>
            <a:ext cx="113659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SecureHealthCare — a Zero Trust framework for healthcare delivering identity-based access control, continuous endpoint monitoring, and automated threat containment.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3666744" cy="420624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35753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 — Identity &amp; Access Control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810512"/>
            <a:ext cx="3666744" cy="4626864"/>
          </a:xfrm>
          <a:prstGeom prst="rect">
            <a:avLst/>
          </a:prstGeom>
          <a:solidFill>
            <a:srgbClr val="FDE8E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20240"/>
            <a:ext cx="3483864" cy="4407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1400"/>
              </a:spcBef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Server: registration, bcrypt login, TOTP MFA, JWT token issuance</a:t>
            </a:r>
            <a:endParaRPr lang="en-US" sz="1300" dirty="0"/>
          </a:p>
          <a:p>
            <a:pPr marL="342900" indent="-342900">
              <a:spcBef>
                <a:spcPts val="1400"/>
              </a:spcBef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Gateway: public entry point, bearer token validation + forwarding</a:t>
            </a:r>
            <a:endParaRPr lang="en-US" sz="1300" dirty="0"/>
          </a:p>
          <a:p>
            <a:pPr marL="342900" indent="-342900">
              <a:spcBef>
                <a:spcPts val="1400"/>
              </a:spcBef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SDP Controller: role/permission policy evaluation for each request</a:t>
            </a:r>
            <a:endParaRPr lang="en-US" sz="1300" dirty="0"/>
          </a:p>
          <a:p>
            <a:pPr marL="342900" indent="-342900">
              <a:spcBef>
                <a:spcPts val="1400"/>
              </a:spcBef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Controller: short-lived admission grants for protected services</a:t>
            </a:r>
            <a:endParaRPr lang="en-US" sz="1300" dirty="0"/>
          </a:p>
          <a:p>
            <a:pPr marL="342900" indent="-342900">
              <a:spcBef>
                <a:spcPts val="1400"/>
              </a:spcBef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encryption of all sensitive patient data at rest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15384" y="1371600"/>
            <a:ext cx="3666744" cy="42062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61104" y="1371600"/>
            <a:ext cx="35753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 — Monitoring &amp; Detection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15384" y="1810512"/>
            <a:ext cx="3666744" cy="4626864"/>
          </a:xfrm>
          <a:prstGeom prst="rect">
            <a:avLst/>
          </a:prstGeom>
          <a:solidFill>
            <a:srgbClr val="E8F4F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06824" y="1920240"/>
            <a:ext cx="3483864" cy="4407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1400"/>
              </a:spcBef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Agents on all critical endpoints: process, file, network, log events</a:t>
            </a:r>
            <a:endParaRPr lang="en-US" sz="1300" dirty="0"/>
          </a:p>
          <a:p>
            <a:pPr marL="342900" indent="-342900">
              <a:spcBef>
                <a:spcPts val="1400"/>
              </a:spcBef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Telemetry Collector: </a:t>
            </a:r>
            <a:r>
              <a:rPr lang="en-US" sz="13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event stream</a:t>
            </a:r>
            <a:endParaRPr lang="en-US" sz="1300" dirty="0"/>
          </a:p>
          <a:p>
            <a:pPr marL="342900" indent="-342900">
              <a:spcBef>
                <a:spcPts val="1400"/>
              </a:spcBef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Engine: healthcare-specific threat signatures (EXFILTRATION, RANSOMWARE, BRUTE FORCE)</a:t>
            </a:r>
            <a:endParaRPr lang="en-US" sz="1300" dirty="0"/>
          </a:p>
          <a:p>
            <a:pPr marL="342900" indent="-342900">
              <a:spcBef>
                <a:spcPts val="1400"/>
              </a:spcBef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Engine: Random Forest trained on CSE-CIC-IDS2018 (95.27% recall)</a:t>
            </a:r>
            <a:endParaRPr lang="en-US" sz="1300" dirty="0"/>
          </a:p>
          <a:p>
            <a:pPr marL="342900" indent="-342900">
              <a:spcBef>
                <a:spcPts val="1400"/>
              </a:spcBef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detection — rules catch known threats, ML catches unknown anomalies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19288" y="1371600"/>
            <a:ext cx="3666744" cy="420624"/>
          </a:xfrm>
          <a:prstGeom prst="rect">
            <a:avLst/>
          </a:prstGeom>
          <a:solidFill>
            <a:srgbClr val="1A6040"/>
          </a:solidFill>
          <a:ln w="12700">
            <a:solidFill>
              <a:srgbClr val="1A6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65008" y="1371600"/>
            <a:ext cx="35753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Automation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19288" y="1810512"/>
            <a:ext cx="3666744" cy="4626864"/>
          </a:xfrm>
          <a:prstGeom prst="rect">
            <a:avLst/>
          </a:prstGeom>
          <a:solidFill>
            <a:srgbClr val="E8FDE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10728" y="1920240"/>
            <a:ext cx="3483864" cy="4407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1400"/>
              </a:spcBef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Controller: severity-aware enforcement (CRITICAL / HIGH / LOW)</a:t>
            </a:r>
            <a:endParaRPr lang="en-US" sz="1300" dirty="0"/>
          </a:p>
          <a:p>
            <a:pPr marL="342900" indent="-342900">
              <a:spcBef>
                <a:spcPts val="1400"/>
              </a:spcBef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Actions: </a:t>
            </a:r>
            <a:r>
              <a:rPr lang="en-US" sz="1400" dirty="0"/>
              <a:t>isolate segment, revoke IAM tokens, revoke SDP access, </a:t>
            </a:r>
            <a:r>
              <a:rPr lang="en-US" sz="1400" dirty="0" smtClean="0"/>
              <a:t>log-only</a:t>
            </a:r>
          </a:p>
          <a:p>
            <a:pPr marL="342900" indent="-342900">
              <a:spcBef>
                <a:spcPts val="1400"/>
              </a:spcBef>
              <a:spcAft>
                <a:spcPts val="1400"/>
              </a:spcAft>
              <a:buSzPct val="100000"/>
              <a:buChar char="•"/>
            </a:pPr>
            <a:r>
              <a:rPr lang="en-US" sz="1300" dirty="0" err="1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Microsegmentation</a:t>
            </a:r>
            <a:r>
              <a:rPr lang="en-US" sz="13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via SDP segment state change — dynamically enforced</a:t>
            </a:r>
            <a:endParaRPr lang="en-US" sz="1300" dirty="0" smtClean="0"/>
          </a:p>
          <a:p>
            <a:pPr marL="342900" indent="-342900">
              <a:spcBef>
                <a:spcPts val="1400"/>
              </a:spcBef>
              <a:spcAft>
                <a:spcPts val="1400"/>
              </a:spcAft>
              <a:buSzPct val="100000"/>
              <a:buChar char="•"/>
            </a:pPr>
            <a:r>
              <a:rPr lang="en-US" sz="13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Reversible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revert_isolation action available after threat confirmation</a:t>
            </a:r>
            <a:endParaRPr lang="en-US" sz="1300" dirty="0"/>
          </a:p>
          <a:p>
            <a:pPr marL="342900" indent="-342900">
              <a:spcBef>
                <a:spcPts val="1400"/>
              </a:spcBef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trail: host identity, trigger, severity, timestamp, rollback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8B1040"/>
          </a:solidFill>
          <a:ln w="12700">
            <a:solidFill>
              <a:srgbClr val="8B10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4592" y="6492240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9628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Zero Trust Security Framework for Healthcare Systems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177272" y="649224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</a:rPr>
              <a:t>AMRITA VISHWA VIDYAPEETHAM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Overview (2 of 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1274552" cy="27432"/>
          </a:xfrm>
          <a:prstGeom prst="rect">
            <a:avLst/>
          </a:prstGeom>
          <a:solidFill>
            <a:srgbClr val="C0305A"/>
          </a:solidFill>
          <a:ln w="12700">
            <a:solidFill>
              <a:srgbClr val="C030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04672"/>
            <a:ext cx="11365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D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Request &amp; Response Workflow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81812" y="1261872"/>
            <a:ext cx="1920240" cy="1828800"/>
          </a:xfrm>
          <a:prstGeom prst="rect">
            <a:avLst/>
          </a:prstGeom>
          <a:solidFill>
            <a:srgbClr val="FDE8EE"/>
          </a:solidFill>
          <a:ln w="9525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04188" y="1371600"/>
            <a:ext cx="475488" cy="475488"/>
          </a:xfrm>
          <a:prstGeom prst="ellipse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4188" y="13716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4964" y="1901952"/>
            <a:ext cx="17739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9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4964" y="2432304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hits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portal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02052" y="2139696"/>
            <a:ext cx="210312" cy="73152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5400000">
            <a:off x="2848356" y="2066544"/>
            <a:ext cx="109728" cy="219456"/>
          </a:xfrm>
          <a:prstGeom prst="rtTriangle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58084" y="1261872"/>
            <a:ext cx="1920240" cy="1828800"/>
          </a:xfrm>
          <a:prstGeom prst="rect">
            <a:avLst/>
          </a:prstGeom>
          <a:solidFill>
            <a:srgbClr val="F0E8FD"/>
          </a:solidFill>
          <a:ln w="9525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80460" y="1371600"/>
            <a:ext cx="475488" cy="475488"/>
          </a:xfrm>
          <a:prstGeom prst="ellipse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80460" y="13716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31236" y="1901952"/>
            <a:ext cx="17739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9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31236" y="2432304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IAM: bcrypt +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TOTP MFA →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issued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78324" y="2139696"/>
            <a:ext cx="210312" cy="73152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5400000">
            <a:off x="5024628" y="2066544"/>
            <a:ext cx="109728" cy="219456"/>
          </a:xfrm>
          <a:prstGeom prst="rtTriangle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34356" y="1261872"/>
            <a:ext cx="1920240" cy="1828800"/>
          </a:xfrm>
          <a:prstGeom prst="rect">
            <a:avLst/>
          </a:prstGeom>
          <a:solidFill>
            <a:srgbClr val="E8F4FD"/>
          </a:solidFill>
          <a:ln w="9525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56732" y="1371600"/>
            <a:ext cx="475488" cy="475488"/>
          </a:xfrm>
          <a:prstGeom prst="ellipse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6732" y="13716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07508" y="1901952"/>
            <a:ext cx="17739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9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07508" y="2432304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</a:t>
            </a:r>
            <a:r>
              <a:rPr lang="en-US" sz="1150" dirty="0" smtClean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</a:t>
            </a:r>
            <a:r>
              <a:rPr lang="en-US" sz="11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SDP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50" dirty="0" smtClean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SPA: </a:t>
            </a:r>
            <a:r>
              <a:rPr lang="en-US" sz="11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+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check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054596" y="2139696"/>
            <a:ext cx="210312" cy="73152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5400000">
            <a:off x="7200900" y="2066544"/>
            <a:ext cx="109728" cy="219456"/>
          </a:xfrm>
          <a:prstGeom prst="rtTriangle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0628" y="1261872"/>
            <a:ext cx="1920240" cy="1828800"/>
          </a:xfrm>
          <a:prstGeom prst="rect">
            <a:avLst/>
          </a:prstGeom>
          <a:solidFill>
            <a:srgbClr val="FDF8E8"/>
          </a:solidFill>
          <a:ln w="9525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33004" y="1371600"/>
            <a:ext cx="475488" cy="475488"/>
          </a:xfrm>
          <a:prstGeom prst="ellipse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33004" y="13716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383780" y="1901952"/>
            <a:ext cx="17739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9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83780" y="2432304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agents →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→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 smtClean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</a:t>
            </a:r>
            <a:r>
              <a:rPr lang="en-US" sz="11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230868" y="2139696"/>
            <a:ext cx="210312" cy="73152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5400000">
            <a:off x="9377172" y="2066544"/>
            <a:ext cx="109728" cy="219456"/>
          </a:xfrm>
          <a:prstGeom prst="rtTriangle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86900" y="1261872"/>
            <a:ext cx="1920240" cy="1828800"/>
          </a:xfrm>
          <a:prstGeom prst="rect">
            <a:avLst/>
          </a:prstGeom>
          <a:solidFill>
            <a:srgbClr val="E8FDEE"/>
          </a:solidFill>
          <a:ln w="9525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0209276" y="1371600"/>
            <a:ext cx="475488" cy="475488"/>
          </a:xfrm>
          <a:prstGeom prst="ellipse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209276" y="13716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560052" y="1901952"/>
            <a:ext cx="17739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9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560052" y="2432304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</a:t>
            </a:r>
            <a:r>
              <a:rPr lang="en-US" sz="1150" dirty="0" smtClean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</a:t>
            </a:r>
            <a:r>
              <a:rPr lang="en-US" sz="11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alert → auto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isolate/revoke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11480" y="3246120"/>
            <a:ext cx="11365992" cy="329184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246120"/>
            <a:ext cx="11274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Key Novelties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11480" y="3639312"/>
            <a:ext cx="11365992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 smtClean="0"/>
              <a:t>Two-phase </a:t>
            </a:r>
            <a:r>
              <a:rPr lang="en-US" sz="1400" dirty="0"/>
              <a:t>architecture: Phase I handles authentication/authorization, while Phase II handles monitoring, detection, and response</a:t>
            </a:r>
            <a:r>
              <a:rPr lang="en-US" sz="1400" dirty="0" smtClean="0"/>
              <a:t>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 smtClean="0"/>
              <a:t>Unified </a:t>
            </a:r>
            <a:r>
              <a:rPr lang="en-US" sz="1400" dirty="0"/>
              <a:t>endpoint monitoring and dynamic network isolation within a Zero Trust healthcare framework.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detection engine: deterministic rule engine + Random Forest ML anomaly detector running in parallel for complementary coverage.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auditable, and reversible enforcement: every action logged with host identity, trigger, severity, and </a:t>
            </a:r>
            <a:r>
              <a:rPr lang="en-US" sz="135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timestamp.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8B1040"/>
          </a:solidFill>
          <a:ln w="12700">
            <a:solidFill>
              <a:srgbClr val="8B10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64592" y="6492240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8640" y="6492240"/>
            <a:ext cx="9628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Zero Trust Security Framework for Healthcare Systems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177272" y="649224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</a:rPr>
              <a:t>AMRITA VISHWA VIDYAPEETHAM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/ Design (1 of 3) — Phase I: Identity &amp; Access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1274552" cy="27432"/>
          </a:xfrm>
          <a:prstGeom prst="rect">
            <a:avLst/>
          </a:prstGeom>
          <a:solidFill>
            <a:srgbClr val="C0305A"/>
          </a:solidFill>
          <a:ln w="12700">
            <a:solidFill>
              <a:srgbClr val="C030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22960"/>
            <a:ext cx="2750058" cy="2569464"/>
          </a:xfrm>
          <a:prstGeom prst="rect">
            <a:avLst/>
          </a:prstGeom>
          <a:solidFill>
            <a:srgbClr val="FDE8EE"/>
          </a:solidFill>
          <a:ln w="7620">
            <a:solidFill>
              <a:srgbClr val="E8B0C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822960"/>
            <a:ext cx="2750058" cy="329184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" y="822960"/>
            <a:ext cx="264033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Frontend Application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" y="1188720"/>
            <a:ext cx="2603754" cy="2130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portal serving the user interface; initiates MFA login and provides role-based views for all 8 user roles.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71266" y="822960"/>
            <a:ext cx="2750058" cy="2569464"/>
          </a:xfrm>
          <a:prstGeom prst="rect">
            <a:avLst/>
          </a:prstGeom>
          <a:solidFill>
            <a:srgbClr val="FDE8EE"/>
          </a:solidFill>
          <a:ln w="7620">
            <a:solidFill>
              <a:srgbClr val="E8B0C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71266" y="822960"/>
            <a:ext cx="2750058" cy="329184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26130" y="822960"/>
            <a:ext cx="264033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IAM Server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44418" y="1188720"/>
            <a:ext cx="2603754" cy="2130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registration, bcrypt password verification, TOTP MFA, JWT access + refresh token issuance on successful auth.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31052" y="822960"/>
            <a:ext cx="2750058" cy="2569464"/>
          </a:xfrm>
          <a:prstGeom prst="rect">
            <a:avLst/>
          </a:prstGeom>
          <a:solidFill>
            <a:srgbClr val="FDE8EE"/>
          </a:solidFill>
          <a:ln w="7620">
            <a:solidFill>
              <a:srgbClr val="E8B0C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31052" y="822960"/>
            <a:ext cx="2750058" cy="329184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85916" y="822960"/>
            <a:ext cx="264033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API Gateway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04204" y="1188720"/>
            <a:ext cx="2603754" cy="2130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entry point — validates bearer tokens, rejects unauthenticated requests, forwards valid requests to SDP.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90838" y="822960"/>
            <a:ext cx="2750058" cy="2569464"/>
          </a:xfrm>
          <a:prstGeom prst="rect">
            <a:avLst/>
          </a:prstGeom>
          <a:solidFill>
            <a:srgbClr val="FDE8EE"/>
          </a:solidFill>
          <a:ln w="7620">
            <a:solidFill>
              <a:srgbClr val="E8B0C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90838" y="822960"/>
            <a:ext cx="2750058" cy="329184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45702" y="822960"/>
            <a:ext cx="264033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SDP Controller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63990" y="1188720"/>
            <a:ext cx="2603754" cy="2130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role/permission policy for every request: checks user role against allowed resource paths and HTTP methods.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11480" y="3520440"/>
            <a:ext cx="2750058" cy="2569464"/>
          </a:xfrm>
          <a:prstGeom prst="rect">
            <a:avLst/>
          </a:prstGeom>
          <a:solidFill>
            <a:srgbClr val="FDE8EE"/>
          </a:solidFill>
          <a:ln w="7620">
            <a:solidFill>
              <a:srgbClr val="E8B0C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3520440"/>
            <a:ext cx="2750058" cy="329184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" y="3520440"/>
            <a:ext cx="264033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SPA Controller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" y="3886200"/>
            <a:ext cx="2603754" cy="2130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Packet Auth — issues short-lived admission grants for clients before allowing access to protected backend services.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71266" y="3520440"/>
            <a:ext cx="2750058" cy="2569464"/>
          </a:xfrm>
          <a:prstGeom prst="rect">
            <a:avLst/>
          </a:prstGeom>
          <a:solidFill>
            <a:srgbClr val="FDE8EE"/>
          </a:solidFill>
          <a:ln w="7620">
            <a:solidFill>
              <a:srgbClr val="E8B0C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71266" y="3520440"/>
            <a:ext cx="2750058" cy="329184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26130" y="3520440"/>
            <a:ext cx="264033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Backend + Internal GW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44418" y="3886200"/>
            <a:ext cx="2603754" cy="2130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clinical REST API services; accessible only through internal gateway after SDP + SPA admit the request.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31052" y="3520440"/>
            <a:ext cx="2750058" cy="2569464"/>
          </a:xfrm>
          <a:prstGeom prst="rect">
            <a:avLst/>
          </a:prstGeom>
          <a:solidFill>
            <a:srgbClr val="FDE8EE"/>
          </a:solidFill>
          <a:ln w="7620">
            <a:solidFill>
              <a:srgbClr val="E8B0C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31052" y="3520440"/>
            <a:ext cx="2750058" cy="329184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85916" y="3520440"/>
            <a:ext cx="264033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Encryption Service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04204" y="3886200"/>
            <a:ext cx="2603754" cy="2130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encryption and decryption of all sensitive patient data — called by backend before DB read/write operations.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990838" y="3520440"/>
            <a:ext cx="2750058" cy="2569464"/>
          </a:xfrm>
          <a:prstGeom prst="rect">
            <a:avLst/>
          </a:prstGeom>
          <a:solidFill>
            <a:srgbClr val="FDE8EE"/>
          </a:solidFill>
          <a:ln w="7620">
            <a:solidFill>
              <a:srgbClr val="E8B0C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990838" y="3520440"/>
            <a:ext cx="2750058" cy="329184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45702" y="3520440"/>
            <a:ext cx="264033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PostgreSQL Database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063990" y="3886200"/>
            <a:ext cx="2603754" cy="2130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encrypted patient records, appointments, prescriptions, and structured audit logs for all security events.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8B1040"/>
          </a:solidFill>
          <a:ln w="12700">
            <a:solidFill>
              <a:srgbClr val="8B10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4592" y="6492240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" y="6492240"/>
            <a:ext cx="9628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Zero Trust Security Framework for Healthcare Systems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177272" y="649224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</a:rPr>
              <a:t>AMRITA VISHWA VIDYAPEETHAM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/ Design (2 of 3) — Phase II: Monitoring &amp; Response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1274552" cy="27432"/>
          </a:xfrm>
          <a:prstGeom prst="rect">
            <a:avLst/>
          </a:prstGeom>
          <a:solidFill>
            <a:srgbClr val="C0305A"/>
          </a:solidFill>
          <a:ln w="12700">
            <a:solidFill>
              <a:srgbClr val="C030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22960"/>
            <a:ext cx="3697224" cy="2569464"/>
          </a:xfrm>
          <a:prstGeom prst="rect">
            <a:avLst/>
          </a:prstGeom>
          <a:solidFill>
            <a:srgbClr val="E8F4FD"/>
          </a:solidFill>
          <a:ln w="7620">
            <a:solidFill>
              <a:srgbClr val="A8CCE8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822960"/>
            <a:ext cx="3697224" cy="32918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" y="822960"/>
            <a:ext cx="3587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EDR Agents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3514344" cy="2130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all critical endpoints: continuously collect process execution, file access, network connections, and system log events in structured JSON format.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18432" y="822960"/>
            <a:ext cx="3697224" cy="2569464"/>
          </a:xfrm>
          <a:prstGeom prst="rect">
            <a:avLst/>
          </a:prstGeom>
          <a:solidFill>
            <a:srgbClr val="E8F4FD"/>
          </a:solidFill>
          <a:ln w="7620">
            <a:solidFill>
              <a:srgbClr val="A8CCE8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18432" y="822960"/>
            <a:ext cx="3697224" cy="32918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73296" y="822960"/>
            <a:ext cx="3587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Telemetry Collector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309872" y="1188720"/>
            <a:ext cx="3514344" cy="2130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Centralizes all structured telemetry from EDR agents and service-level producers; normalizes records and assigns collector-side timestamps for ordering consistency.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25384" y="822960"/>
            <a:ext cx="3697224" cy="2569464"/>
          </a:xfrm>
          <a:prstGeom prst="rect">
            <a:avLst/>
          </a:prstGeom>
          <a:solidFill>
            <a:srgbClr val="E8F4FD"/>
          </a:solidFill>
          <a:ln w="7620">
            <a:solidFill>
              <a:srgbClr val="A8CCE8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25384" y="822960"/>
            <a:ext cx="3697224" cy="32918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80248" y="822960"/>
            <a:ext cx="3587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Rule-Based Engine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16824" y="1188720"/>
            <a:ext cx="3514344" cy="2130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telemetry against healthcare-specific threat signatures: EXFILTRATION_DETECTED, RANSOMWARE_INDICATOR, BRUTE_FORCE_ATTEMPT, ROLE_ACCESS_VIOLATION.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520440"/>
            <a:ext cx="3697224" cy="2569464"/>
          </a:xfrm>
          <a:prstGeom prst="rect">
            <a:avLst/>
          </a:prstGeom>
          <a:solidFill>
            <a:srgbClr val="E8F4FD"/>
          </a:solidFill>
          <a:ln w="7620">
            <a:solidFill>
              <a:srgbClr val="A8CCE8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520440"/>
            <a:ext cx="3697224" cy="32918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" y="3520440"/>
            <a:ext cx="3587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ML Engine (RF)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3886200"/>
            <a:ext cx="3514344" cy="2130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model trained on 398,656 records from CSE-CIC-IDS2018; 35 engineered features; threshold optimized at 0.14 for maximum attack recall (95.27%).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18432" y="3520440"/>
            <a:ext cx="3697224" cy="2569464"/>
          </a:xfrm>
          <a:prstGeom prst="rect">
            <a:avLst/>
          </a:prstGeom>
          <a:solidFill>
            <a:srgbClr val="E8F4FD"/>
          </a:solidFill>
          <a:ln w="7620">
            <a:solidFill>
              <a:srgbClr val="A8CCE8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18432" y="3520440"/>
            <a:ext cx="3697224" cy="32918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73296" y="3520440"/>
            <a:ext cx="3587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Response Controller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309872" y="3886200"/>
            <a:ext cx="3514344" cy="2130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alerts from both engines; selects enforcement action by severity: isolate (CRITICAL), revoke_tokens (HIGH), restrict (HIGH), log_only (LOW). All actions are auditable and reversible.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25384" y="3520440"/>
            <a:ext cx="3697224" cy="2569464"/>
          </a:xfrm>
          <a:prstGeom prst="rect">
            <a:avLst/>
          </a:prstGeom>
          <a:solidFill>
            <a:srgbClr val="E8F4FD"/>
          </a:solidFill>
          <a:ln w="7620">
            <a:solidFill>
              <a:srgbClr val="A8CCE8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25384" y="3520440"/>
            <a:ext cx="3697224" cy="32918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80248" y="3520440"/>
            <a:ext cx="3587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Prometheus + Grafana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116824" y="3886200"/>
            <a:ext cx="3514344" cy="2130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scrapes metrics from all 12 services; Grafana provides real-time dashboards for segment state, telemetry volume, isolation events, and security score.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8B1040"/>
          </a:solidFill>
          <a:ln w="12700">
            <a:solidFill>
              <a:srgbClr val="8B10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4592" y="6492240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492240"/>
            <a:ext cx="9628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Zero Trust Security Framework for Healthcare Systems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177272" y="649224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</a:rPr>
              <a:t>AMRITA VISHWA VIDYAPEETHAM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/ Design (3 of 3) — System Workflow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1274552" cy="27432"/>
          </a:xfrm>
          <a:prstGeom prst="rect">
            <a:avLst/>
          </a:prstGeom>
          <a:solidFill>
            <a:srgbClr val="C0305A"/>
          </a:solidFill>
          <a:ln w="12700">
            <a:solidFill>
              <a:srgbClr val="C030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04672"/>
            <a:ext cx="5394960" cy="347472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0467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Access Control Flow (Phase I)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5394960" cy="534924"/>
          </a:xfrm>
          <a:prstGeom prst="rect">
            <a:avLst/>
          </a:prstGeom>
          <a:solidFill>
            <a:srgbClr val="F8F4F5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07008"/>
            <a:ext cx="521208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User accesses hospital portal frontend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1810512"/>
            <a:ext cx="5394960" cy="53492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10512"/>
            <a:ext cx="521208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Frontend initiates login → IAM: bcrypt verify + TOTP MFA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414016"/>
            <a:ext cx="5394960" cy="534924"/>
          </a:xfrm>
          <a:prstGeom prst="rect">
            <a:avLst/>
          </a:prstGeom>
          <a:solidFill>
            <a:srgbClr val="F8F4F5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14016"/>
            <a:ext cx="521208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IAM issues JWT on successful MFA completion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5394960" cy="53492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017520"/>
            <a:ext cx="521208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Client sends JWT to API Gateway for resource requests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3621024"/>
            <a:ext cx="5394960" cy="534924"/>
          </a:xfrm>
          <a:prstGeom prst="rect">
            <a:avLst/>
          </a:prstGeom>
          <a:solidFill>
            <a:srgbClr val="F8F4F5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621024"/>
            <a:ext cx="521208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API Gateway → SDP Controller: policy evaluation by role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4224528"/>
            <a:ext cx="5394960" cy="53492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224528"/>
            <a:ext cx="521208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SPA Controller issues short-lived admission grant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4828032"/>
            <a:ext cx="5394960" cy="534924"/>
          </a:xfrm>
          <a:prstGeom prst="rect">
            <a:avLst/>
          </a:prstGeom>
          <a:solidFill>
            <a:srgbClr val="F8F4F5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828032"/>
            <a:ext cx="521208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Request forwarded through Backend Internal Gateway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65760" y="5431536"/>
            <a:ext cx="5394960" cy="53492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5431536"/>
            <a:ext cx="521208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Sensitive data encrypted at rest via AES-256-GCM service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943600" y="804672"/>
            <a:ext cx="36576" cy="53949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804672"/>
            <a:ext cx="557784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80467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Detection &amp; Response Flow (Phase II)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72200" y="1207008"/>
            <a:ext cx="5577840" cy="534924"/>
          </a:xfrm>
          <a:prstGeom prst="rect">
            <a:avLst/>
          </a:prstGeom>
          <a:solidFill>
            <a:srgbClr val="EEF4FD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1207008"/>
            <a:ext cx="539496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EDR agents continuously stream telemetry to collector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172200" y="1810512"/>
            <a:ext cx="5577840" cy="53492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1810512"/>
            <a:ext cx="539496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Collector normalizes and timestamps all JSON records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172200" y="2414016"/>
            <a:ext cx="5577840" cy="534924"/>
          </a:xfrm>
          <a:prstGeom prst="rect">
            <a:avLst/>
          </a:prstGeom>
          <a:solidFill>
            <a:srgbClr val="EEF4FD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2414016"/>
            <a:ext cx="539496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Rule engine evaluates telemetry against threat signatures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172200" y="3017520"/>
            <a:ext cx="5577840" cy="53492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3017520"/>
            <a:ext cx="539496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ML engine runs /predict: anomaly score via Random Forest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172200" y="3621024"/>
            <a:ext cx="5577840" cy="534924"/>
          </a:xfrm>
          <a:prstGeom prst="rect">
            <a:avLst/>
          </a:prstGeom>
          <a:solidFill>
            <a:srgbClr val="EEF4FD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3621024"/>
            <a:ext cx="539496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Both engines generate structured alerts with severity levels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172200" y="4224528"/>
            <a:ext cx="5577840" cy="53492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4224528"/>
            <a:ext cx="539496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Response Controller receives alerts via /alert endpoint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172200" y="4828032"/>
            <a:ext cx="5577840" cy="534924"/>
          </a:xfrm>
          <a:prstGeom prst="rect">
            <a:avLst/>
          </a:prstGeom>
          <a:solidFill>
            <a:srgbClr val="EEF4FD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4828032"/>
            <a:ext cx="539496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Severity determines action: isolate / revoke / restrict / log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172200" y="5431536"/>
            <a:ext cx="5577840" cy="534924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5431536"/>
            <a:ext cx="539496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All actions logged: host, trigger, severity, timestamp, rollback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8B1040"/>
          </a:solidFill>
          <a:ln w="12700">
            <a:solidFill>
              <a:srgbClr val="8B10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64592" y="6492240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8640" y="6492240"/>
            <a:ext cx="9628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Zero Trust Security Framework for Healthcare Systems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177272" y="649224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</a:rPr>
              <a:t>AMRITA VISHWA VIDYAPEETHAM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 (1 of 2) — Technologies Used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1274552" cy="27432"/>
          </a:xfrm>
          <a:prstGeom prst="rect">
            <a:avLst/>
          </a:prstGeom>
          <a:solidFill>
            <a:srgbClr val="C0305A"/>
          </a:solidFill>
          <a:ln w="12700">
            <a:solidFill>
              <a:srgbClr val="C030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04672"/>
            <a:ext cx="5568696" cy="329184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04672"/>
            <a:ext cx="55686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Core Services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1600200" cy="781812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1508760" cy="7818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Frontend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11680" y="1188720"/>
            <a:ext cx="3968496" cy="781812"/>
          </a:xfrm>
          <a:prstGeom prst="rect">
            <a:avLst/>
          </a:prstGeom>
          <a:solidFill>
            <a:srgbClr val="F8F0F3"/>
          </a:solidFill>
          <a:ln w="6350">
            <a:solidFill>
              <a:srgbClr val="E0C0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84832" y="1188720"/>
            <a:ext cx="3822192" cy="7818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— hospital portal UI, MFA workflow, role-based views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052828"/>
            <a:ext cx="1600200" cy="781812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52828"/>
            <a:ext cx="1508760" cy="7818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Backend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0" y="2052828"/>
            <a:ext cx="3968496" cy="781812"/>
          </a:xfrm>
          <a:prstGeom prst="rect">
            <a:avLst/>
          </a:prstGeom>
          <a:solidFill>
            <a:srgbClr val="F8F0F3"/>
          </a:solidFill>
          <a:ln w="6350">
            <a:solidFill>
              <a:srgbClr val="E0C0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84832" y="2052828"/>
            <a:ext cx="3822192" cy="7818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REST API — healthcare data endpoints, role middleware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916936"/>
            <a:ext cx="1600200" cy="781812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16936"/>
            <a:ext cx="1508760" cy="7818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IAM Service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011680" y="2916936"/>
            <a:ext cx="3968496" cy="781812"/>
          </a:xfrm>
          <a:prstGeom prst="rect">
            <a:avLst/>
          </a:prstGeom>
          <a:solidFill>
            <a:srgbClr val="F8F0F3"/>
          </a:solidFill>
          <a:ln w="6350">
            <a:solidFill>
              <a:srgbClr val="E0C0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84832" y="2916936"/>
            <a:ext cx="3822192" cy="7818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— bcrypt, </a:t>
            </a:r>
            <a:r>
              <a:rPr lang="en-US" sz="12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TOTP,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3781044"/>
            <a:ext cx="1600200" cy="781812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81044"/>
            <a:ext cx="1508760" cy="7818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API Gateway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011680" y="3781044"/>
            <a:ext cx="3968496" cy="781812"/>
          </a:xfrm>
          <a:prstGeom prst="rect">
            <a:avLst/>
          </a:prstGeom>
          <a:solidFill>
            <a:srgbClr val="F8F0F3"/>
          </a:solidFill>
          <a:ln w="6350">
            <a:solidFill>
              <a:srgbClr val="E0C0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84832" y="3781044"/>
            <a:ext cx="3822192" cy="7818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— http-proxy-middleware, bearer token validation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4645152"/>
            <a:ext cx="1600200" cy="781812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645152"/>
            <a:ext cx="1508760" cy="7818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SDP / SPA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011680" y="4645152"/>
            <a:ext cx="3968496" cy="781812"/>
          </a:xfrm>
          <a:prstGeom prst="rect">
            <a:avLst/>
          </a:prstGeom>
          <a:solidFill>
            <a:srgbClr val="F8F0F3"/>
          </a:solidFill>
          <a:ln w="6350">
            <a:solidFill>
              <a:srgbClr val="E0C0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84832" y="4645152"/>
            <a:ext cx="3822192" cy="7818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— policy engine, admission grants, microsegmentation state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" y="5509260"/>
            <a:ext cx="1600200" cy="781812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5509260"/>
            <a:ext cx="1508760" cy="7818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Encryption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011680" y="5509260"/>
            <a:ext cx="3968496" cy="781812"/>
          </a:xfrm>
          <a:prstGeom prst="rect">
            <a:avLst/>
          </a:prstGeom>
          <a:solidFill>
            <a:srgbClr val="F8F0F3"/>
          </a:solidFill>
          <a:ln w="6350">
            <a:solidFill>
              <a:srgbClr val="E0C0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84832" y="5509260"/>
            <a:ext cx="3822192" cy="7818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— AES-256-GCM via Node crypto module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08776" y="804672"/>
            <a:ext cx="5568696" cy="329184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08776" y="804672"/>
            <a:ext cx="55686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Supporting Services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08776" y="1188720"/>
            <a:ext cx="1600200" cy="954634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54496" y="1188720"/>
            <a:ext cx="1508760" cy="9546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ML Engine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808976" y="1188720"/>
            <a:ext cx="3968496" cy="954634"/>
          </a:xfrm>
          <a:prstGeom prst="rect">
            <a:avLst/>
          </a:prstGeom>
          <a:solidFill>
            <a:srgbClr val="F8F0F3"/>
          </a:solidFill>
          <a:ln w="6350">
            <a:solidFill>
              <a:srgbClr val="E0C0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82128" y="1188720"/>
            <a:ext cx="3822192" cy="9546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(Flask) — Random Forest (scikit-learn), CSE-CIC-IDS2018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08776" y="2225650"/>
            <a:ext cx="1600200" cy="954634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54496" y="2225650"/>
            <a:ext cx="1508760" cy="9546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Response </a:t>
            </a:r>
            <a:r>
              <a:rPr lang="en-US" sz="1200" b="1" dirty="0" smtClean="0">
                <a:solidFill>
                  <a:srgbClr val="FFFFFF"/>
                </a:solidFill>
              </a:rPr>
              <a:t>Controller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808976" y="2225650"/>
            <a:ext cx="3968496" cy="954634"/>
          </a:xfrm>
          <a:prstGeom prst="rect">
            <a:avLst/>
          </a:prstGeom>
          <a:solidFill>
            <a:srgbClr val="F8F0F3"/>
          </a:solidFill>
          <a:ln w="6350">
            <a:solidFill>
              <a:srgbClr val="E0C0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82128" y="2225650"/>
            <a:ext cx="3822192" cy="9546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/>
              <a:t>Node.js/Express</a:t>
            </a:r>
            <a:r>
              <a:rPr lang="en-US" sz="12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severity router, IAM callbacks, audit log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08776" y="3262579"/>
            <a:ext cx="1600200" cy="954634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54496" y="3262579"/>
            <a:ext cx="1508760" cy="9546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Monitoring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808976" y="3262579"/>
            <a:ext cx="3968496" cy="954634"/>
          </a:xfrm>
          <a:prstGeom prst="rect">
            <a:avLst/>
          </a:prstGeom>
          <a:solidFill>
            <a:srgbClr val="F8F0F3"/>
          </a:solidFill>
          <a:ln w="6350">
            <a:solidFill>
              <a:srgbClr val="E0C0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82128" y="3262579"/>
            <a:ext cx="3822192" cy="9546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 — metrics collection, real-time dashboards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208776" y="4299509"/>
            <a:ext cx="1600200" cy="954634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54496" y="4299509"/>
            <a:ext cx="1508760" cy="9546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Database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808976" y="4299509"/>
            <a:ext cx="3968496" cy="954634"/>
          </a:xfrm>
          <a:prstGeom prst="rect">
            <a:avLst/>
          </a:prstGeom>
          <a:solidFill>
            <a:srgbClr val="F8F0F3"/>
          </a:solidFill>
          <a:ln w="6350">
            <a:solidFill>
              <a:srgbClr val="E0C0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82128" y="4299509"/>
            <a:ext cx="3822192" cy="9546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encrypted patient records, structured audit logs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208776" y="5336438"/>
            <a:ext cx="1600200" cy="954634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54496" y="5336438"/>
            <a:ext cx="1508760" cy="9546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Deployment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808976" y="5336438"/>
            <a:ext cx="3968496" cy="954634"/>
          </a:xfrm>
          <a:prstGeom prst="rect">
            <a:avLst/>
          </a:prstGeom>
          <a:solidFill>
            <a:srgbClr val="F8F0F3"/>
          </a:solidFill>
          <a:ln w="6350">
            <a:solidFill>
              <a:srgbClr val="E0C0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82128" y="5336438"/>
            <a:ext cx="3822192" cy="9546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— 12 containerized microservices, isolated networks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8B1040"/>
          </a:solidFill>
          <a:ln w="12700">
            <a:solidFill>
              <a:srgbClr val="8B104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64592" y="6492240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48640" y="6492240"/>
            <a:ext cx="9628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Zero Trust Security Framework for Healthcare Systems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0177272" y="649224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</a:rPr>
              <a:t>AMRITA VISHWA VIDYAPEETHAM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 (2 of 2) — Key Features Implemented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1274552" cy="27432"/>
          </a:xfrm>
          <a:prstGeom prst="rect">
            <a:avLst/>
          </a:prstGeom>
          <a:solidFill>
            <a:srgbClr val="C0305A"/>
          </a:solidFill>
          <a:ln w="12700">
            <a:solidFill>
              <a:srgbClr val="C030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22960"/>
            <a:ext cx="5591556" cy="347472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4632" y="822960"/>
            <a:ext cx="54452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Multi-Factor Authentication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5591556" cy="2372868"/>
          </a:xfrm>
          <a:prstGeom prst="rect">
            <a:avLst/>
          </a:prstGeom>
          <a:solidFill>
            <a:srgbClr val="FDF6F8"/>
          </a:solidFill>
          <a:ln w="6350">
            <a:solidFill>
              <a:srgbClr val="DDB0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25296"/>
            <a:ext cx="5408676" cy="2263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 + TOTP </a:t>
            </a:r>
            <a:r>
              <a:rPr lang="en-US" sz="13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speakeasy library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access + refresh tokens issued only after MFA verification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Console-confirmed: two-stage auth + token issuance validated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85916" y="822960"/>
            <a:ext cx="5591556" cy="347472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59068" y="822960"/>
            <a:ext cx="54452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SDP Policy Enforcement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85916" y="1170432"/>
            <a:ext cx="5591556" cy="2372868"/>
          </a:xfrm>
          <a:prstGeom prst="rect">
            <a:avLst/>
          </a:prstGeom>
          <a:solidFill>
            <a:srgbClr val="FDF6F8"/>
          </a:solidFill>
          <a:ln w="6350">
            <a:solidFill>
              <a:srgbClr val="DDB0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7356" y="1225296"/>
            <a:ext cx="5408676" cy="2263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hospital roles: admin, doctor, nurse, receptionist, lab tech, pharmacist, accountant, patient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Role-path matrix: allowed/denied per HTTP method + resource path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ROLE_ACCESS_VIOLATION telemetry generated on unauthorized attempt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3671316"/>
            <a:ext cx="5591556" cy="347472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3671316"/>
            <a:ext cx="54452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Telemetry Pipeline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4018788"/>
            <a:ext cx="5591556" cy="2372868"/>
          </a:xfrm>
          <a:prstGeom prst="rect">
            <a:avLst/>
          </a:prstGeom>
          <a:solidFill>
            <a:srgbClr val="FDF6F8"/>
          </a:solidFill>
          <a:ln w="6350">
            <a:solidFill>
              <a:srgbClr val="DDB0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073652"/>
            <a:ext cx="5408676" cy="2263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agents on workstations + service-level middleware producers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JSON: identity, role, method, path, duration, IP, timestamp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records normalized and collector-timestamped for downstream analysis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85916" y="3671316"/>
            <a:ext cx="5591556" cy="347472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9068" y="3671316"/>
            <a:ext cx="54452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ML Model Integration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85916" y="4018788"/>
            <a:ext cx="5591556" cy="2372868"/>
          </a:xfrm>
          <a:prstGeom prst="rect">
            <a:avLst/>
          </a:prstGeom>
          <a:solidFill>
            <a:srgbClr val="FDF6F8"/>
          </a:solidFill>
          <a:ln w="6350">
            <a:solidFill>
              <a:srgbClr val="DDB0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77356" y="4073652"/>
            <a:ext cx="5408676" cy="2263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trained on 398,656 records from CSE-CIC-IDS2018 dataset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engineered features: network, process, file, log, DB activity signals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optimized at 0.14 for healthcare threat sensitivity — 95.27% recall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8B1040"/>
          </a:solidFill>
          <a:ln w="12700">
            <a:solidFill>
              <a:srgbClr val="8B10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" y="6492240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492240"/>
            <a:ext cx="9628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Zero Trust Security Framework for Healthcare Systems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177272" y="649224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</a:rPr>
              <a:t>AMRITA VISHWA VIDYAPEETHAM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 (1 of 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1274552" cy="27432"/>
          </a:xfrm>
          <a:prstGeom prst="rect">
            <a:avLst/>
          </a:prstGeom>
          <a:solidFill>
            <a:srgbClr val="C0305A"/>
          </a:solidFill>
          <a:ln w="12700">
            <a:solidFill>
              <a:srgbClr val="C030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04672"/>
            <a:ext cx="5394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1535"/>
                </a:solidFill>
              </a:rPr>
              <a:t>ML Engine — Random Forest Performance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2468880" cy="1170432"/>
          </a:xfrm>
          <a:prstGeom prst="rect">
            <a:avLst/>
          </a:prstGeom>
          <a:solidFill>
            <a:srgbClr val="FDE8EE"/>
          </a:solidFill>
          <a:ln w="6350">
            <a:solidFill>
              <a:srgbClr val="E8B0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1615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95.27%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7922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Recall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4825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66"/>
                </a:solidFill>
              </a:rPr>
              <a:t>Attack detection rate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63240" y="1170432"/>
            <a:ext cx="2468880" cy="1170432"/>
          </a:xfrm>
          <a:prstGeom prst="rect">
            <a:avLst/>
          </a:prstGeom>
          <a:solidFill>
            <a:srgbClr val="FDE8EE"/>
          </a:solidFill>
          <a:ln w="6350">
            <a:solidFill>
              <a:srgbClr val="E8B0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121615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0.9872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154680" y="17922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ROC-AUC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54680" y="204825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66"/>
                </a:solidFill>
              </a:rPr>
              <a:t>Overall discriminative performance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2468880" cy="1170432"/>
          </a:xfrm>
          <a:prstGeom prst="rect">
            <a:avLst/>
          </a:prstGeom>
          <a:solidFill>
            <a:srgbClr val="FDE8EE"/>
          </a:solidFill>
          <a:ln w="6350">
            <a:solidFill>
              <a:srgbClr val="E8B0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146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82.59%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7200" y="3090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F1-Score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34670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66"/>
                </a:solidFill>
              </a:rPr>
              <a:t>Precision-recall balance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063240" y="2468880"/>
            <a:ext cx="2468880" cy="1170432"/>
          </a:xfrm>
          <a:prstGeom prst="rect">
            <a:avLst/>
          </a:prstGeom>
          <a:solidFill>
            <a:srgbClr val="FDE8EE"/>
          </a:solidFill>
          <a:ln w="6350">
            <a:solidFill>
              <a:srgbClr val="E8B0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25146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8.80%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154680" y="3090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FP Rate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54680" y="334670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66"/>
                </a:solidFill>
              </a:rPr>
              <a:t>False positive rate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38404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1535"/>
                </a:solidFill>
              </a:rPr>
              <a:t>Confusion Matrix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169664"/>
          <a:ext cx="5394960" cy="800100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Pred. Benign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Pred. Attack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Act. Benign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7A4A"/>
                          </a:solidFill>
                        </a:rPr>
                        <a:t>TN: 43,692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</a:rPr>
                        <a:t>FP: 4,214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Act. Attack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</a:rPr>
                        <a:t>FN: 562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7A4A"/>
                          </a:solidFill>
                        </a:rPr>
                        <a:t>TP: 11,331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6035040" y="804672"/>
            <a:ext cx="571500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80760" y="804672"/>
            <a:ext cx="5623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Access Control &amp; SDP Validation Results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6035040" y="1234440"/>
            <a:ext cx="5715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1535"/>
                </a:solidFill>
              </a:rPr>
              <a:t>SDP Role-Based Policy Enforcement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035040" y="1508760"/>
            <a:ext cx="5715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role-path combinations correctly allowed; all forbidden combinations denied with explicit policy reasons logged.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6035040" y="2148840"/>
            <a:ext cx="5715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1535"/>
                </a:solidFill>
              </a:rPr>
              <a:t>Unauthenticated Access Blocking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035040" y="2423160"/>
            <a:ext cx="5715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without valid JWT rejected at the API Gateway; backend resources unreachable without token.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6035040" y="3063240"/>
            <a:ext cx="5715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1535"/>
                </a:solidFill>
              </a:rPr>
              <a:t>SPA-Based Admission Control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035040" y="3337560"/>
            <a:ext cx="5715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admissions for client admin-laptop-01 created and validated before protected service access was granted.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6035040" y="3977640"/>
            <a:ext cx="5715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1535"/>
                </a:solidFill>
              </a:rPr>
              <a:t>Dynamic Microsegmentation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035040" y="4251960"/>
            <a:ext cx="5715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backend-clinical-segment isolated on incident; subsequent access requests correctly denied during active isolation period.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6035040" y="4892040"/>
            <a:ext cx="5715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1535"/>
                </a:solidFill>
              </a:rPr>
              <a:t>MFA Enforcement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035040" y="5166360"/>
            <a:ext cx="5715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issued only after TOTP verification; console evidence confirms two-stage auth and token issuance sequence.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8B1040"/>
          </a:solidFill>
          <a:ln w="12700">
            <a:solidFill>
              <a:srgbClr val="8B104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64592" y="6492240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12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548640" y="6492240"/>
            <a:ext cx="9628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Zero Trust Security Framework for Healthcare Systems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10177272" y="649224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</a:rPr>
              <a:t>AMRITA VISHWA VIDYAPEETHAM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 (2 of 2) — Response &amp; Observability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1274552" cy="27432"/>
          </a:xfrm>
          <a:prstGeom prst="rect">
            <a:avLst/>
          </a:prstGeom>
          <a:solidFill>
            <a:srgbClr val="C0305A"/>
          </a:solidFill>
          <a:ln w="12700">
            <a:solidFill>
              <a:srgbClr val="C030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0467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D1535"/>
                </a:solidFill>
              </a:rPr>
              <a:t>Automated Response Actions by Alert Type</a:t>
            </a:r>
            <a:endParaRPr lang="en-US" sz="14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52144"/>
          <a:ext cx="9601200" cy="2414016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Alert Type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Severity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Response Action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IAM Action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ROLE_ACCESS_VIOLATION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D35400"/>
                          </a:solidFill>
                        </a:rPr>
                        <a:t>HIGH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restrict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Token revocation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EXFILTRATION_DETECTED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</a:rPr>
                        <a:t>CRITICAL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isolate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Revocation + IP block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RANSOMWARE_INDICATOR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</a:rPr>
                        <a:t>CRITICAL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isolate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Revocation + IP block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BRUTE_FORCE_ATTEMPT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D35400"/>
                          </a:solidFill>
                        </a:rPr>
                        <a:t>HIGH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restrict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Token revocation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ML_ANOMALY (low conf.)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7AE60"/>
                          </a:solidFill>
                        </a:rPr>
                        <a:t>LOW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log_only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</a:rPr>
                        <a:t>None</a:t>
                      </a:r>
                      <a:endParaRPr lang="en-US" sz="12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01752" y="3382965"/>
            <a:ext cx="114300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D1535"/>
                </a:solidFill>
              </a:rPr>
              <a:t>Grafana Dashboard — Observed Runtime </a:t>
            </a:r>
            <a:r>
              <a:rPr lang="en-US" sz="1450" b="1" dirty="0" smtClean="0">
                <a:solidFill>
                  <a:srgbClr val="6D1535"/>
                </a:solidFill>
              </a:rPr>
              <a:t>Metrics</a:t>
            </a:r>
            <a:endParaRPr lang="en-US" sz="1450" b="1" dirty="0" smtClean="0">
              <a:solidFill>
                <a:srgbClr val="6D1535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365760" y="4425696"/>
            <a:ext cx="2148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365760" y="5157216"/>
            <a:ext cx="2148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697480" y="4425696"/>
            <a:ext cx="2148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5" name="Text 11"/>
          <p:cNvSpPr/>
          <p:nvPr/>
        </p:nvSpPr>
        <p:spPr>
          <a:xfrm>
            <a:off x="5029200" y="4425696"/>
            <a:ext cx="2148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20" name="Text 17"/>
          <p:cNvSpPr/>
          <p:nvPr/>
        </p:nvSpPr>
        <p:spPr>
          <a:xfrm>
            <a:off x="9692640" y="4425696"/>
            <a:ext cx="2148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21" name="Text 18"/>
          <p:cNvSpPr/>
          <p:nvPr/>
        </p:nvSpPr>
        <p:spPr>
          <a:xfrm>
            <a:off x="9692640" y="5157216"/>
            <a:ext cx="2148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8B1040"/>
          </a:solidFill>
          <a:ln w="12700">
            <a:solidFill>
              <a:srgbClr val="8B104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64592" y="6492240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13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48640" y="6492240"/>
            <a:ext cx="9628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Zero Trust Security Framework for Healthcare Systems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0177272" y="649224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</a:rPr>
              <a:t>AMRITA VISHWA VIDYAPEETHAM</a:t>
            </a:r>
            <a:endParaRPr lang="en-US" sz="800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8822" y="3795392"/>
            <a:ext cx="5464195" cy="260971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Analysis (1 of 2) — Meeting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1274552" cy="27432"/>
          </a:xfrm>
          <a:prstGeom prst="rect">
            <a:avLst/>
          </a:prstGeom>
          <a:solidFill>
            <a:srgbClr val="C0305A"/>
          </a:solidFill>
          <a:ln w="12700">
            <a:solidFill>
              <a:srgbClr val="C030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22960"/>
            <a:ext cx="1920240" cy="950976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859536"/>
            <a:ext cx="1883664" cy="4945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Deployment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84048" y="1374526"/>
            <a:ext cx="1883664" cy="3613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F8EE"/>
                </a:solidFill>
              </a:rPr>
              <a:t>✓ Met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31720" y="822960"/>
            <a:ext cx="9509760" cy="950976"/>
          </a:xfrm>
          <a:prstGeom prst="rect">
            <a:avLst/>
          </a:prstGeom>
          <a:solidFill>
            <a:srgbClr val="F8F4F5"/>
          </a:solidFill>
          <a:ln w="6350">
            <a:solidFill>
              <a:srgbClr val="DDD0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859536"/>
            <a:ext cx="93268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agents deployed on all critical endpoints; telemetry centralized from workstations, IAM, backend, encryption, and monitoring services.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865376"/>
            <a:ext cx="1920240" cy="950976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901952"/>
            <a:ext cx="1883664" cy="4945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Microsegmentation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84048" y="2416942"/>
            <a:ext cx="1883664" cy="3613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F8EE"/>
                </a:solidFill>
              </a:rPr>
              <a:t>✓ Met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331720" y="1865376"/>
            <a:ext cx="9509760" cy="950976"/>
          </a:xfrm>
          <a:prstGeom prst="rect">
            <a:avLst/>
          </a:prstGeom>
          <a:solidFill>
            <a:srgbClr val="F8F4F5"/>
          </a:solidFill>
          <a:ln w="6350">
            <a:solidFill>
              <a:srgbClr val="DDD0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1901952"/>
            <a:ext cx="93268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SDP-based segmentation enforced; backend-clinical-segment dynamically isolated during incident; lateral movement prevented throughout test.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907792"/>
            <a:ext cx="1920240" cy="950976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944368"/>
            <a:ext cx="1883664" cy="4945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84048" y="3459358"/>
            <a:ext cx="1883664" cy="3613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F8EE"/>
                </a:solidFill>
              </a:rPr>
              <a:t>✓ Met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331720" y="2907792"/>
            <a:ext cx="9509760" cy="950976"/>
          </a:xfrm>
          <a:prstGeom prst="rect">
            <a:avLst/>
          </a:prstGeom>
          <a:solidFill>
            <a:srgbClr val="F8F4F5"/>
          </a:solidFill>
          <a:ln w="6350">
            <a:solidFill>
              <a:srgbClr val="DDD0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23160" y="2944368"/>
            <a:ext cx="93268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 err="1"/>
              <a:t>Grafana</a:t>
            </a:r>
            <a:r>
              <a:rPr lang="en-US" sz="1400" dirty="0"/>
              <a:t> showed segment-level activity throughout that run. Metrics are runtime-dependent and vary by scenario duration and </a:t>
            </a:r>
            <a:r>
              <a:rPr lang="en-US" sz="1400" dirty="0" smtClean="0"/>
              <a:t>traffic</a:t>
            </a:r>
            <a:r>
              <a:rPr lang="en-US" sz="13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1920240" cy="950976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986784"/>
            <a:ext cx="1883664" cy="4945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Demo attack scenarios with live detection and response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384048" y="4501774"/>
            <a:ext cx="1883664" cy="3613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F8EE"/>
                </a:solidFill>
              </a:rPr>
              <a:t>✓ Met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331720" y="3950208"/>
            <a:ext cx="9509760" cy="950976"/>
          </a:xfrm>
          <a:prstGeom prst="rect">
            <a:avLst/>
          </a:prstGeom>
          <a:solidFill>
            <a:srgbClr val="F8F4F5"/>
          </a:solidFill>
          <a:ln w="6350">
            <a:solidFill>
              <a:srgbClr val="DDD0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23160" y="3986784"/>
            <a:ext cx="93268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/>
              <a:t>It shows the detected attack type, alert severity, and response state during the demo run.</a:t>
            </a:r>
            <a:r>
              <a:rPr lang="en-US" sz="13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4992624"/>
            <a:ext cx="1920240" cy="950976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5029200"/>
            <a:ext cx="1883664" cy="4945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Response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84048" y="5544190"/>
            <a:ext cx="1883664" cy="3613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F8EE"/>
                </a:solidFill>
              </a:rPr>
              <a:t>✓ Met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331720" y="4992624"/>
            <a:ext cx="9509760" cy="950976"/>
          </a:xfrm>
          <a:prstGeom prst="rect">
            <a:avLst/>
          </a:prstGeom>
          <a:solidFill>
            <a:srgbClr val="F8F4F5"/>
          </a:solidFill>
          <a:ln w="6350">
            <a:solidFill>
              <a:srgbClr val="DDD0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23160" y="5029200"/>
            <a:ext cx="93268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Severity-based enforcement confirmed: isolate for CRITICAL, restrict for HIGH, log_only for LOW. revert_isolation action validated successfully.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8B1040"/>
          </a:solidFill>
          <a:ln w="12700">
            <a:solidFill>
              <a:srgbClr val="8B10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4592" y="6492240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6492240"/>
            <a:ext cx="9628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Zero Trust Security Framework for Healthcare Systems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177272" y="649224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</a:rPr>
              <a:t>AMRITA VISHWA VIDYAPEETHAM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Analysis (2 of 2) — SOTA Comparison &amp; Strengths / Limitations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1274552" cy="27432"/>
          </a:xfrm>
          <a:prstGeom prst="rect">
            <a:avLst/>
          </a:prstGeom>
          <a:solidFill>
            <a:srgbClr val="C0305A"/>
          </a:solidFill>
          <a:ln w="12700">
            <a:solidFill>
              <a:srgbClr val="C030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046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D1535"/>
                </a:solidFill>
              </a:rPr>
              <a:t>Comparison with Existing Approaches</a:t>
            </a:r>
            <a:endParaRPr lang="en-US" sz="13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424196"/>
              </p:ext>
            </p:extLst>
          </p:nvPr>
        </p:nvGraphicFramePr>
        <p:xfrm>
          <a:off x="365760" y="1152144"/>
          <a:ext cx="5577840" cy="3183636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Traditional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SecureHealthCare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Trust Model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</a:rPr>
                        <a:t>Perimeter-based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Zero Trust </a:t>
                      </a:r>
                      <a:r>
                        <a:rPr lang="en-US" sz="1150" b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sz="1150" b="1" i="0" kern="120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(IAM → SDP → EDR → Response)</a:t>
                      </a:r>
                      <a:endParaRPr lang="en-US" sz="1150" b="1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Access Control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</a:rPr>
                        <a:t>Static </a:t>
                      </a:r>
                      <a:r>
                        <a:rPr lang="en-US" sz="1150" dirty="0" smtClean="0">
                          <a:solidFill>
                            <a:srgbClr val="C0392B"/>
                          </a:solidFill>
                        </a:rPr>
                        <a:t>Access</a:t>
                      </a:r>
                      <a:r>
                        <a:rPr lang="en-US" sz="1150" baseline="0" dirty="0" smtClean="0">
                          <a:solidFill>
                            <a:srgbClr val="C0392B"/>
                          </a:solidFill>
                        </a:rPr>
                        <a:t> Control List</a:t>
                      </a:r>
                      <a:r>
                        <a:rPr lang="en-US" sz="1150" dirty="0" smtClean="0">
                          <a:solidFill>
                            <a:srgbClr val="C0392B"/>
                          </a:solidFill>
                        </a:rPr>
                        <a:t>s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7A4A"/>
                          </a:solidFill>
                        </a:rPr>
                        <a:t>Dynamic SDP + role policies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Threat Detection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</a:rPr>
                        <a:t>Signature-only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7A4A"/>
                          </a:solidFill>
                        </a:rPr>
                        <a:t>Rule + ML (hybrid)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Response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</a:rPr>
                        <a:t>Manual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i="0" kern="1200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Automated severity-based (token revoke, segment isolate)</a:t>
                      </a:r>
                      <a:endParaRPr lang="en-US" sz="1150" b="1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Microsegmentation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</a:rPr>
                        <a:t>None / static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7A4A"/>
                          </a:solidFill>
                        </a:rPr>
                        <a:t>Dynamic isolation via SDP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Audit Trail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0392B"/>
                          </a:solidFill>
                        </a:rPr>
                        <a:t>Partial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7A4A"/>
                          </a:solidFill>
                        </a:rPr>
                        <a:t>Full — every action logged</a:t>
                      </a:r>
                      <a:endParaRPr lang="en-US" sz="115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263640" y="804672"/>
            <a:ext cx="548640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09360" y="804672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Strengths &amp; Limitations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263640" y="122529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7A4A"/>
                </a:solidFill>
              </a:rPr>
              <a:t>Strengths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263640" y="1536192"/>
            <a:ext cx="54864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Zero Trust </a:t>
            </a:r>
            <a:r>
              <a:rPr lang="en-US" sz="135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prototype— </a:t>
            </a: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verified, every action auditable.</a:t>
            </a:r>
            <a:endParaRPr lang="en-US" sz="11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detection: rules + ML </a:t>
            </a:r>
            <a:r>
              <a:rPr lang="en-US" sz="135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reversible microsegmentation — no permanent lockouts.</a:t>
            </a:r>
            <a:endParaRPr lang="en-US" sz="11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 smtClean="0"/>
              <a:t>Demonstrated attack scenarios with response – exfiltration , role violation, brute force as shown in the demo</a:t>
            </a: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 err="1" smtClean="0"/>
              <a:t>Docker</a:t>
            </a:r>
            <a:r>
              <a:rPr lang="en-US" sz="1350" dirty="0" smtClean="0"/>
              <a:t> </a:t>
            </a:r>
            <a:r>
              <a:rPr lang="en-US" sz="1350" dirty="0"/>
              <a:t>deployment — </a:t>
            </a:r>
            <a:r>
              <a:rPr lang="en-US" sz="1350" dirty="0" smtClean="0"/>
              <a:t>reproducible </a:t>
            </a:r>
            <a:r>
              <a:rPr lang="en-US" sz="1350" dirty="0"/>
              <a:t>in controlled test environments.</a:t>
            </a:r>
          </a:p>
        </p:txBody>
      </p:sp>
      <p:sp>
        <p:nvSpPr>
          <p:cNvPr id="10" name="Shape 7"/>
          <p:cNvSpPr/>
          <p:nvPr/>
        </p:nvSpPr>
        <p:spPr>
          <a:xfrm>
            <a:off x="6263640" y="3493008"/>
            <a:ext cx="548640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63640" y="35478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</a:rPr>
              <a:t>Limitations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263640" y="3858768"/>
            <a:ext cx="54864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in simulated Docker environment — not validated on a live hospital </a:t>
            </a:r>
            <a:r>
              <a:rPr lang="en-US" sz="135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network.</a:t>
            </a:r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Reversible isolation is audit driven , not automatic</a:t>
            </a:r>
            <a:endParaRPr lang="en-US" sz="11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</a:t>
            </a: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IoMT (embedded medical device) telemetry coverage in current deployment.</a:t>
            </a:r>
            <a:endParaRPr lang="en-US" sz="11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trained on IDS2018 — a healthcare-specific dataset would improve accuracy.</a:t>
            </a:r>
            <a:endParaRPr lang="en-US" sz="1180" dirty="0"/>
          </a:p>
        </p:txBody>
      </p:sp>
      <p:sp>
        <p:nvSpPr>
          <p:cNvPr id="13" name="Shape 10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8B1040"/>
          </a:solidFill>
          <a:ln w="12700">
            <a:solidFill>
              <a:srgbClr val="8B104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64592" y="6492240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15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6492240"/>
            <a:ext cx="9628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Zero Trust Security Framework for Healthcare Systems</a:t>
            </a:r>
            <a:endParaRPr lang="en-US" sz="1000" dirty="0"/>
          </a:p>
        </p:txBody>
      </p:sp>
      <p:sp>
        <p:nvSpPr>
          <p:cNvPr id="5" name="Text 13"/>
          <p:cNvSpPr/>
          <p:nvPr/>
        </p:nvSpPr>
        <p:spPr>
          <a:xfrm>
            <a:off x="10177272" y="649224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</a:rPr>
              <a:t>AMRITA VISHWA VIDYAPEETHAM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1274552" cy="27432"/>
          </a:xfrm>
          <a:prstGeom prst="rect">
            <a:avLst/>
          </a:prstGeom>
          <a:solidFill>
            <a:srgbClr val="C0305A"/>
          </a:solidFill>
          <a:ln w="12700">
            <a:solidFill>
              <a:srgbClr val="C030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22960"/>
            <a:ext cx="5074920" cy="914400"/>
          </a:xfrm>
          <a:prstGeom prst="rect">
            <a:avLst/>
          </a:prstGeom>
          <a:solidFill>
            <a:srgbClr val="FDE8EE"/>
          </a:solidFill>
          <a:ln w="6350">
            <a:solidFill>
              <a:srgbClr val="E0B0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77824"/>
            <a:ext cx="4892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9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</a:t>
            </a:r>
            <a:r>
              <a:rPr lang="en-US" sz="1200" dirty="0">
                <a:solidFill>
                  <a:srgbClr val="C00000"/>
                </a:solidFill>
              </a:rPr>
              <a:t>Hybrid Threat Detection: Rules + ML </a:t>
            </a:r>
          </a:p>
        </p:txBody>
      </p:sp>
      <p:sp>
        <p:nvSpPr>
          <p:cNvPr id="6" name="Shape 4"/>
          <p:cNvSpPr/>
          <p:nvPr/>
        </p:nvSpPr>
        <p:spPr>
          <a:xfrm>
            <a:off x="5468112" y="1243584"/>
            <a:ext cx="640080" cy="73152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6035040" y="1133856"/>
            <a:ext cx="128016" cy="292608"/>
          </a:xfrm>
          <a:prstGeom prst="rtTriangle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99632" y="822960"/>
            <a:ext cx="5577840" cy="914400"/>
          </a:xfrm>
          <a:prstGeom prst="rect">
            <a:avLst/>
          </a:prstGeom>
          <a:solidFill>
            <a:srgbClr val="E8FDEE"/>
          </a:solidFill>
          <a:ln w="6350">
            <a:solidFill>
              <a:srgbClr val="A0D0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91072" y="877824"/>
            <a:ext cx="5394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 smtClean="0">
                <a:solidFill>
                  <a:srgbClr val="1A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r>
              <a:rPr lang="en-US" sz="1200" dirty="0"/>
              <a:t> 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</a:rPr>
              <a:t>Traffic analyzer (4 core rules: </a:t>
            </a:r>
            <a:r>
              <a:rPr lang="en-US" sz="1200" dirty="0" err="1">
                <a:solidFill>
                  <a:schemeClr val="accent6">
                    <a:lumMod val="50000"/>
                  </a:schemeClr>
                </a:solidFill>
              </a:rPr>
              <a:t>exfil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US" sz="1200" dirty="0" err="1">
                <a:solidFill>
                  <a:schemeClr val="accent6">
                    <a:lumMod val="50000"/>
                  </a:schemeClr>
                </a:solidFill>
              </a:rPr>
              <a:t>ransomware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</a:rPr>
              <a:t>, brute force, role violation) runs in parallel with ML anomaly scoring -</a:t>
            </a:r>
            <a:r>
              <a:rPr lang="en-US" sz="1200" dirty="0" smtClean="0">
                <a:solidFill>
                  <a:schemeClr val="accent6">
                    <a:lumMod val="50000"/>
                  </a:schemeClr>
                </a:solidFill>
              </a:rPr>
              <a:t>both 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</a:rPr>
              <a:t>routes feed into response controller for correlated </a:t>
            </a:r>
            <a:r>
              <a:rPr lang="en-US" sz="1200" dirty="0" smtClean="0">
                <a:solidFill>
                  <a:schemeClr val="accent6">
                    <a:lumMod val="50000"/>
                  </a:schemeClr>
                </a:solidFill>
              </a:rPr>
              <a:t>escalation.</a:t>
            </a:r>
            <a:endParaRPr lang="en-US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" y="1847088"/>
            <a:ext cx="5074920" cy="914400"/>
          </a:xfrm>
          <a:prstGeom prst="rect">
            <a:avLst/>
          </a:prstGeom>
          <a:solidFill>
            <a:srgbClr val="FDE8EE"/>
          </a:solidFill>
          <a:ln w="6350">
            <a:solidFill>
              <a:srgbClr val="E0B0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01952"/>
            <a:ext cx="4892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9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</a:t>
            </a:r>
            <a:r>
              <a:rPr lang="en-US" sz="1200" dirty="0" smtClean="0">
                <a:solidFill>
                  <a:srgbClr val="C00000"/>
                </a:solidFill>
              </a:rPr>
              <a:t>Distributed </a:t>
            </a:r>
            <a:r>
              <a:rPr lang="en-US" sz="1200" dirty="0">
                <a:solidFill>
                  <a:srgbClr val="C00000"/>
                </a:solidFill>
              </a:rPr>
              <a:t>Alert Normalization &amp; Real-Time Correlation</a:t>
            </a:r>
          </a:p>
        </p:txBody>
      </p:sp>
      <p:sp>
        <p:nvSpPr>
          <p:cNvPr id="12" name="Shape 10"/>
          <p:cNvSpPr/>
          <p:nvPr/>
        </p:nvSpPr>
        <p:spPr>
          <a:xfrm>
            <a:off x="5468112" y="2267712"/>
            <a:ext cx="640080" cy="73152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5400000">
            <a:off x="6035040" y="2157984"/>
            <a:ext cx="128016" cy="292608"/>
          </a:xfrm>
          <a:prstGeom prst="rtTriangle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99632" y="1847088"/>
            <a:ext cx="5577840" cy="914400"/>
          </a:xfrm>
          <a:prstGeom prst="rect">
            <a:avLst/>
          </a:prstGeom>
          <a:solidFill>
            <a:srgbClr val="E8FDEE"/>
          </a:solidFill>
          <a:ln w="6350">
            <a:solidFill>
              <a:srgbClr val="A0D0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1072" y="1901952"/>
            <a:ext cx="5394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 smtClean="0">
                <a:solidFill>
                  <a:srgbClr val="1A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r>
              <a:rPr lang="en-US" sz="1200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200" dirty="0" smtClean="0">
                <a:solidFill>
                  <a:schemeClr val="accent6">
                    <a:lumMod val="50000"/>
                  </a:schemeClr>
                </a:solidFill>
              </a:rPr>
              <a:t>entralized 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</a:rPr>
              <a:t>collector (monitoring/collector.js) ingests from traffic analyzer (rules), ML engine (anomaly), EDR agents (telemetry), backend middleware (role violations), and database monitor; response controller prioritizes by severity + ML confidence.</a:t>
            </a:r>
          </a:p>
        </p:txBody>
      </p:sp>
      <p:sp>
        <p:nvSpPr>
          <p:cNvPr id="16" name="Shape 14"/>
          <p:cNvSpPr/>
          <p:nvPr/>
        </p:nvSpPr>
        <p:spPr>
          <a:xfrm>
            <a:off x="365760" y="2871216"/>
            <a:ext cx="5074920" cy="914400"/>
          </a:xfrm>
          <a:prstGeom prst="rect">
            <a:avLst/>
          </a:prstGeom>
          <a:solidFill>
            <a:srgbClr val="FDE8EE"/>
          </a:solidFill>
          <a:ln w="6350">
            <a:solidFill>
              <a:srgbClr val="E0B0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926080"/>
            <a:ext cx="4892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SDP Policy Enforcement Consistency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68112" y="3291840"/>
            <a:ext cx="640080" cy="73152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5400000">
            <a:off x="6035040" y="3182112"/>
            <a:ext cx="128016" cy="292608"/>
          </a:xfrm>
          <a:prstGeom prst="rtTriangle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9632" y="2871216"/>
            <a:ext cx="5577840" cy="914400"/>
          </a:xfrm>
          <a:prstGeom prst="rect">
            <a:avLst/>
          </a:prstGeom>
          <a:solidFill>
            <a:srgbClr val="E8FDEE"/>
          </a:solidFill>
          <a:ln w="6350">
            <a:solidFill>
              <a:srgbClr val="A0D0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2926080"/>
            <a:ext cx="5394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Centralized policy configuration in SDP controller; role-path matrix evaluated at gateway before any backend forwarding — no bypass paths possible.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3756" y="3877056"/>
            <a:ext cx="5074920" cy="914400"/>
          </a:xfrm>
          <a:prstGeom prst="rect">
            <a:avLst/>
          </a:prstGeom>
          <a:solidFill>
            <a:srgbClr val="FDE8EE"/>
          </a:solidFill>
          <a:ln w="6350">
            <a:solidFill>
              <a:srgbClr val="E0B0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950208"/>
            <a:ext cx="4892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9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</a:t>
            </a:r>
            <a:r>
              <a:rPr lang="en-US" sz="1200" dirty="0">
                <a:solidFill>
                  <a:srgbClr val="C00000"/>
                </a:solidFill>
              </a:rPr>
              <a:t>Attack Visualization and Classification</a:t>
            </a:r>
          </a:p>
        </p:txBody>
      </p:sp>
      <p:sp>
        <p:nvSpPr>
          <p:cNvPr id="24" name="Shape 22"/>
          <p:cNvSpPr/>
          <p:nvPr/>
        </p:nvSpPr>
        <p:spPr>
          <a:xfrm>
            <a:off x="5468112" y="4315968"/>
            <a:ext cx="640080" cy="73152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5400000">
            <a:off x="6035040" y="4206240"/>
            <a:ext cx="128016" cy="292608"/>
          </a:xfrm>
          <a:prstGeom prst="rtTriangle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99632" y="3895344"/>
            <a:ext cx="5577840" cy="914400"/>
          </a:xfrm>
          <a:prstGeom prst="rect">
            <a:avLst/>
          </a:prstGeom>
          <a:solidFill>
            <a:srgbClr val="E8FDEE"/>
          </a:solidFill>
          <a:ln w="6350">
            <a:solidFill>
              <a:srgbClr val="A0D0B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1072" y="3950208"/>
            <a:ext cx="5394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 smtClean="0">
                <a:solidFill>
                  <a:srgbClr val="1A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</a:rPr>
              <a:t>D</a:t>
            </a:r>
            <a:r>
              <a:rPr lang="en-US" sz="1200" dirty="0" smtClean="0">
                <a:solidFill>
                  <a:schemeClr val="accent6">
                    <a:lumMod val="50000"/>
                  </a:schemeClr>
                </a:solidFill>
              </a:rPr>
              <a:t>ashboard </a:t>
            </a:r>
            <a:r>
              <a:rPr lang="en-US" sz="1200" dirty="0">
                <a:solidFill>
                  <a:schemeClr val="accent6">
                    <a:lumMod val="50000"/>
                  </a:schemeClr>
                </a:solidFill>
              </a:rPr>
              <a:t>maps live telemetry and alerts to attack categories, letting the demo show what type of attack was detected and what response was triggered</a:t>
            </a:r>
            <a:r>
              <a:rPr lang="en-US" sz="1200" dirty="0"/>
              <a:t>.</a:t>
            </a:r>
          </a:p>
        </p:txBody>
      </p:sp>
      <p:sp>
        <p:nvSpPr>
          <p:cNvPr id="28" name="Shape 26"/>
          <p:cNvSpPr/>
          <p:nvPr/>
        </p:nvSpPr>
        <p:spPr>
          <a:xfrm>
            <a:off x="365760" y="4919472"/>
            <a:ext cx="5074920" cy="914400"/>
          </a:xfrm>
          <a:prstGeom prst="rect">
            <a:avLst/>
          </a:prstGeom>
          <a:solidFill>
            <a:srgbClr val="FDE8EE"/>
          </a:solidFill>
          <a:ln w="6350">
            <a:solidFill>
              <a:srgbClr val="E0B0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974336"/>
            <a:ext cx="4892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Reversible Microsegmentation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68112" y="5340096"/>
            <a:ext cx="640080" cy="73152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5400000">
            <a:off x="6035040" y="5230368"/>
            <a:ext cx="128016" cy="292608"/>
          </a:xfrm>
          <a:prstGeom prst="rtTriangle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99632" y="4919472"/>
            <a:ext cx="5577840" cy="914400"/>
          </a:xfrm>
          <a:prstGeom prst="rect">
            <a:avLst/>
          </a:prstGeom>
          <a:solidFill>
            <a:srgbClr val="E8FDEE"/>
          </a:solidFill>
          <a:ln w="6350">
            <a:solidFill>
              <a:srgbClr val="A0D0B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91072" y="4974336"/>
            <a:ext cx="5394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Response controller maintains isolation state with rollback tracking; revert_isolation action confirmed in validation — no permanent service lockout.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8B1040"/>
          </a:solidFill>
          <a:ln w="12700">
            <a:solidFill>
              <a:srgbClr val="8B10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4592" y="6492240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6492240"/>
            <a:ext cx="9628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Zero Trust Security Framework for Healthcare Systems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177272" y="649224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</a:rPr>
              <a:t>AMRITA VISHWA VIDYAPEETHAM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1274552" cy="27432"/>
          </a:xfrm>
          <a:prstGeom prst="rect">
            <a:avLst/>
          </a:prstGeom>
          <a:solidFill>
            <a:srgbClr val="C0305A"/>
          </a:solidFill>
          <a:ln w="12700">
            <a:solidFill>
              <a:srgbClr val="C030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04672"/>
            <a:ext cx="11457432" cy="804672"/>
          </a:xfrm>
          <a:prstGeom prst="rect">
            <a:avLst/>
          </a:prstGeom>
          <a:solidFill>
            <a:srgbClr val="FDE8EE"/>
          </a:solidFill>
          <a:ln w="6350">
            <a:solidFill>
              <a:srgbClr val="E0B0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4124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 err="1" smtClean="0"/>
              <a:t>SecureHealthCare</a:t>
            </a:r>
            <a:r>
              <a:rPr lang="en-US" sz="1400" dirty="0" smtClean="0"/>
              <a:t> </a:t>
            </a:r>
            <a:r>
              <a:rPr lang="en-US" sz="1400" dirty="0"/>
              <a:t>demonstrates a validated Zero Trust prototype for healthcare in a containerized simulation environment, integrating identity-based access control, continuous endpoint telemetry, hybrid threat detection (rule + ML), and automated </a:t>
            </a:r>
            <a:r>
              <a:rPr lang="en-US" sz="1400" dirty="0" smtClean="0"/>
              <a:t>rule based containment.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2651760" cy="877824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755648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 Control (Phase I)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54096" y="1719072"/>
            <a:ext cx="8769096" cy="877824"/>
          </a:xfrm>
          <a:prstGeom prst="rect">
            <a:avLst/>
          </a:prstGeom>
          <a:solidFill>
            <a:srgbClr val="F8F4F5"/>
          </a:solidFill>
          <a:ln w="6350">
            <a:solidFill>
              <a:srgbClr val="DDD0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45536" y="1755648"/>
            <a:ext cx="858621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with bcrypt + TOTP MFA, SDP policy enforcement, SPA admission — zero implicit trust at any layer of the stack.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770632"/>
            <a:ext cx="2651760" cy="877824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807208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&amp; Detection (Phase II)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54096" y="2770632"/>
            <a:ext cx="8769096" cy="877824"/>
          </a:xfrm>
          <a:prstGeom prst="rect">
            <a:avLst/>
          </a:prstGeom>
          <a:solidFill>
            <a:srgbClr val="F8F4F5"/>
          </a:solidFill>
          <a:ln w="6350">
            <a:solidFill>
              <a:srgbClr val="DDD0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5536" y="2807208"/>
            <a:ext cx="858621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agents + centralized collector + rule engine + Random Forest ML — 95.27% attack recall, 0.9872 ROC-AUC on validation.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822192"/>
            <a:ext cx="2651760" cy="877824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858768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Response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54096" y="3822192"/>
            <a:ext cx="8769096" cy="877824"/>
          </a:xfrm>
          <a:prstGeom prst="rect">
            <a:avLst/>
          </a:prstGeom>
          <a:solidFill>
            <a:srgbClr val="F8F4F5"/>
          </a:solidFill>
          <a:ln w="6350">
            <a:solidFill>
              <a:srgbClr val="DDD0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45536" y="3858768"/>
            <a:ext cx="858621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Severity-aware enforcement: isolate, revoke, restrict — fully logged, auditable, and reversible with revert_isolation confirmed.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4873752"/>
            <a:ext cx="2651760" cy="877824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910328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Foundation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54096" y="4873752"/>
            <a:ext cx="8769096" cy="877824"/>
          </a:xfrm>
          <a:prstGeom prst="rect">
            <a:avLst/>
          </a:prstGeom>
          <a:solidFill>
            <a:srgbClr val="F8F4F5"/>
          </a:solidFill>
          <a:ln w="6350">
            <a:solidFill>
              <a:srgbClr val="DDD0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45536" y="4910328"/>
            <a:ext cx="858621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 err="1" smtClean="0"/>
              <a:t>Docker</a:t>
            </a:r>
            <a:r>
              <a:rPr lang="en-US" sz="1300" dirty="0" smtClean="0"/>
              <a:t> </a:t>
            </a:r>
            <a:r>
              <a:rPr lang="en-US" sz="1300" dirty="0"/>
              <a:t>Compose deployment with 12 </a:t>
            </a:r>
            <a:r>
              <a:rPr lang="en-US" sz="1300" dirty="0" err="1"/>
              <a:t>microservices</a:t>
            </a:r>
            <a:r>
              <a:rPr lang="en-US" sz="1300" dirty="0"/>
              <a:t> demonstrates architectural feasibility and reproducible validation in a simulated environment; live hospital deployment requires additional operational, regulatory, and clinical validation.</a:t>
            </a:r>
          </a:p>
        </p:txBody>
      </p:sp>
      <p:sp>
        <p:nvSpPr>
          <p:cNvPr id="22" name="Shape 20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8B1040"/>
          </a:solidFill>
          <a:ln w="12700">
            <a:solidFill>
              <a:srgbClr val="8B10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4592" y="6492240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9628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Zero Trust Security Framework for Healthcare Systems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177272" y="649224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</a:rPr>
              <a:t>AMRITA VISHWA VIDYAPEETHAM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1274552" cy="27432"/>
          </a:xfrm>
          <a:prstGeom prst="rect">
            <a:avLst/>
          </a:prstGeom>
          <a:solidFill>
            <a:srgbClr val="C0305A"/>
          </a:solidFill>
          <a:ln w="12700">
            <a:solidFill>
              <a:srgbClr val="C030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9264"/>
            <a:ext cx="3697224" cy="2217420"/>
          </a:xfrm>
          <a:prstGeom prst="rect">
            <a:avLst/>
          </a:prstGeom>
          <a:solidFill>
            <a:srgbClr val="FDF6F8"/>
          </a:solidFill>
          <a:ln w="6350">
            <a:solidFill>
              <a:srgbClr val="DDB0C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822960"/>
            <a:ext cx="3697224" cy="347472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" y="822960"/>
            <a:ext cx="3587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Dynamic Risk Assessment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225296"/>
            <a:ext cx="3514344" cy="2244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50" dirty="0" smtClean="0"/>
              <a:t>Continuously </a:t>
            </a:r>
            <a:r>
              <a:rPr lang="en-US" sz="1250" dirty="0"/>
              <a:t>update risk scores for users and devices using existing telemetry streams (identity, role, endpoint behavior, and alert history), enabling adaptive trust decisions per session.</a:t>
            </a:r>
          </a:p>
        </p:txBody>
      </p:sp>
      <p:sp>
        <p:nvSpPr>
          <p:cNvPr id="8" name="Shape 6"/>
          <p:cNvSpPr/>
          <p:nvPr/>
        </p:nvSpPr>
        <p:spPr>
          <a:xfrm>
            <a:off x="4245864" y="1005840"/>
            <a:ext cx="3697224" cy="2217420"/>
          </a:xfrm>
          <a:prstGeom prst="rect">
            <a:avLst/>
          </a:prstGeom>
          <a:solidFill>
            <a:srgbClr val="FDF6F8"/>
          </a:solidFill>
          <a:ln w="6350">
            <a:solidFill>
              <a:srgbClr val="DDB0C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45864" y="822960"/>
            <a:ext cx="3697224" cy="347472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00728" y="822960"/>
            <a:ext cx="3587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Compliance Audit Logs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337304" y="1225296"/>
            <a:ext cx="3514344" cy="2244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audit reports aligned with HIPAA and other regulatory frameworks — forensic-ready evidence trail for investigations.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71688" y="1024128"/>
            <a:ext cx="3697224" cy="2189988"/>
          </a:xfrm>
          <a:prstGeom prst="rect">
            <a:avLst/>
          </a:prstGeom>
          <a:solidFill>
            <a:srgbClr val="FDF6F8"/>
          </a:solidFill>
          <a:ln w="6350">
            <a:solidFill>
              <a:srgbClr val="DDB0C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80248" y="822960"/>
            <a:ext cx="3697224" cy="347472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5112" y="822960"/>
            <a:ext cx="3587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Automated Recovery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71688" y="1225296"/>
            <a:ext cx="3514344" cy="2244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that restore isolated services and revoked tokens after threat containment is confirmed — reducing operational downtime.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1480" y="3671316"/>
            <a:ext cx="3697224" cy="2363724"/>
          </a:xfrm>
          <a:prstGeom prst="rect">
            <a:avLst/>
          </a:prstGeom>
          <a:solidFill>
            <a:srgbClr val="FDF6F8"/>
          </a:solidFill>
          <a:ln w="6350">
            <a:solidFill>
              <a:srgbClr val="DDB0C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671316"/>
            <a:ext cx="3697224" cy="347472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" y="3671316"/>
            <a:ext cx="3587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IoMT Integration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4073652"/>
            <a:ext cx="3514344" cy="2244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50" dirty="0" smtClean="0"/>
              <a:t>Introduce </a:t>
            </a:r>
            <a:r>
              <a:rPr lang="en-US" sz="1250" dirty="0"/>
              <a:t>lightweight telemetry adapters for selected </a:t>
            </a:r>
            <a:r>
              <a:rPr lang="en-US" sz="1250" dirty="0" err="1"/>
              <a:t>IoMT</a:t>
            </a:r>
            <a:r>
              <a:rPr lang="en-US" sz="1250" dirty="0"/>
              <a:t>/medical devices and map device events into the existing collector schema for broader perimeter visibility.</a:t>
            </a:r>
          </a:p>
        </p:txBody>
      </p:sp>
      <p:sp>
        <p:nvSpPr>
          <p:cNvPr id="20" name="Shape 18"/>
          <p:cNvSpPr/>
          <p:nvPr/>
        </p:nvSpPr>
        <p:spPr>
          <a:xfrm>
            <a:off x="4245864" y="3671316"/>
            <a:ext cx="3697224" cy="2354580"/>
          </a:xfrm>
          <a:prstGeom prst="rect">
            <a:avLst/>
          </a:prstGeom>
          <a:solidFill>
            <a:srgbClr val="FDF6F8"/>
          </a:solidFill>
          <a:ln w="6350">
            <a:solidFill>
              <a:srgbClr val="DDB0C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45864" y="3671316"/>
            <a:ext cx="3697224" cy="347472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00728" y="3671316"/>
            <a:ext cx="3587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ML Explainability (SHAP)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337304" y="4073652"/>
            <a:ext cx="3514344" cy="2244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50" dirty="0"/>
              <a:t>Add model </a:t>
            </a:r>
            <a:r>
              <a:rPr lang="en-US" sz="1250" dirty="0" err="1"/>
              <a:t>explainability</a:t>
            </a:r>
            <a:r>
              <a:rPr lang="en-US" sz="1250" dirty="0"/>
              <a:t> (for example, SHAP-based feature attribution) to provide human-readable reasons for ML alerts and improve clinical and audit interpretability.</a:t>
            </a:r>
          </a:p>
        </p:txBody>
      </p:sp>
      <p:sp>
        <p:nvSpPr>
          <p:cNvPr id="24" name="Shape 22"/>
          <p:cNvSpPr/>
          <p:nvPr/>
        </p:nvSpPr>
        <p:spPr>
          <a:xfrm>
            <a:off x="8080248" y="3671316"/>
            <a:ext cx="3697224" cy="2308860"/>
          </a:xfrm>
          <a:prstGeom prst="rect">
            <a:avLst/>
          </a:prstGeom>
          <a:solidFill>
            <a:srgbClr val="FDF6F8"/>
          </a:solidFill>
          <a:ln w="6350">
            <a:solidFill>
              <a:srgbClr val="DDB0C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80248" y="3671316"/>
            <a:ext cx="3697224" cy="347472"/>
          </a:xfrm>
          <a:prstGeom prst="rect">
            <a:avLst/>
          </a:prstGeom>
          <a:solidFill>
            <a:srgbClr val="9B1B4B"/>
          </a:solidFill>
          <a:ln w="12700">
            <a:solidFill>
              <a:srgbClr val="9B1B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5112" y="3671316"/>
            <a:ext cx="3587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Live Healthcare Validation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171688" y="4073652"/>
            <a:ext cx="3514344" cy="22448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framework in a real hospital network with actual EHR systems, proprietary medical devices, and live patient data workflows.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8B1040"/>
          </a:solidFill>
          <a:ln w="12700">
            <a:solidFill>
              <a:srgbClr val="8B10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4592" y="6492240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18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492240"/>
            <a:ext cx="9628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Zero Trust Security Framework for Healthcare Systems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177272" y="649224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</a:rPr>
              <a:t>AMRITA VISHWA VIDYAPEETHAM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Status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1274552" cy="27432"/>
          </a:xfrm>
          <a:prstGeom prst="rect">
            <a:avLst/>
          </a:prstGeom>
          <a:solidFill>
            <a:srgbClr val="C0305A"/>
          </a:solidFill>
          <a:ln w="12700">
            <a:solidFill>
              <a:srgbClr val="C030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599" y="1005840"/>
            <a:ext cx="8531525" cy="3383280"/>
          </a:xfrm>
          <a:prstGeom prst="rect">
            <a:avLst/>
          </a:prstGeom>
          <a:solidFill>
            <a:srgbClr val="FDE8EE"/>
          </a:solidFill>
          <a:ln w="12700">
            <a:solidFill>
              <a:srgbClr val="E0B0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114300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B1B4B"/>
                </a:solidFill>
              </a:rPr>
              <a:t>Paper Title: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160520" y="1143000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SecureHealthCare: A Zero Trust Security Framework for Healthcare Systems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180136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B1B4B"/>
                </a:solidFill>
              </a:rPr>
              <a:t>Conference: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160520" y="1801368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INCECT 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54480" y="2459736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B1B4B"/>
                </a:solidFill>
              </a:rPr>
              <a:t>Publisher: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60520" y="2459736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54480" y="3118104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B1B4B"/>
                </a:solidFill>
              </a:rPr>
              <a:t>Date of Conference: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60520" y="3118104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21/08/26 – 22/08/26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54480" y="3776472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B1B4B"/>
                </a:solidFill>
              </a:rPr>
              <a:t>Status: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60520" y="3776472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4736592"/>
            <a:ext cx="9418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55566"/>
                </a:solidFill>
              </a:rPr>
              <a:t>[ Add screenshot of acceptance / submission confirmation here ]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8B1040"/>
          </a:solidFill>
          <a:ln w="12700">
            <a:solidFill>
              <a:srgbClr val="8B1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" y="6492240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19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9628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Zero Trust Security Framework for Healthcare Systems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177272" y="649224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</a:rPr>
              <a:t>AMRITA VISHWA VIDYAPEETHAM</a:t>
            </a:r>
            <a:endParaRPr lang="en-US" sz="80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3814" y="4434840"/>
            <a:ext cx="5166338" cy="21736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smtClean="0">
                <a:solidFill>
                  <a:srgbClr val="9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1274552" cy="27432"/>
          </a:xfrm>
          <a:prstGeom prst="rect">
            <a:avLst/>
          </a:prstGeom>
          <a:solidFill>
            <a:srgbClr val="C0305A"/>
          </a:solidFill>
          <a:ln w="12700">
            <a:solidFill>
              <a:srgbClr val="C030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60520" y="1801368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60520" y="2459736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1519518"/>
            <a:ext cx="9418320" cy="38114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i="1" dirty="0" smtClean="0">
                <a:solidFill>
                  <a:srgbClr val="555566"/>
                </a:solidFill>
              </a:rPr>
              <a:t>DOUBTS &amp; QUESTIONS ??</a:t>
            </a:r>
            <a:endParaRPr lang="en-US" sz="4800" dirty="0"/>
          </a:p>
        </p:txBody>
      </p:sp>
      <p:sp>
        <p:nvSpPr>
          <p:cNvPr id="16" name="Shape 1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8B1040"/>
          </a:solidFill>
          <a:ln w="12700">
            <a:solidFill>
              <a:srgbClr val="8B1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" y="6492240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FFFFFF"/>
                </a:solidFill>
              </a:rPr>
              <a:t>20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9628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Zero Trust Security Framework for Healthcare Systems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177272" y="649224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</a:rPr>
              <a:t>AMRITA VISHWA VIDYAPEETHAM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6782540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74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smtClean="0">
                <a:solidFill>
                  <a:srgbClr val="9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11274552" cy="27432"/>
          </a:xfrm>
          <a:prstGeom prst="rect">
            <a:avLst/>
          </a:prstGeom>
          <a:solidFill>
            <a:srgbClr val="C0305A"/>
          </a:solidFill>
          <a:ln w="12700">
            <a:solidFill>
              <a:srgbClr val="C030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60520" y="1801368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60520" y="2459736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1519518"/>
            <a:ext cx="9418320" cy="38114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 smtClean="0"/>
              <a:t>THANK YOU!</a:t>
            </a:r>
            <a:endParaRPr lang="en-US" sz="4800" dirty="0"/>
          </a:p>
        </p:txBody>
      </p:sp>
      <p:sp>
        <p:nvSpPr>
          <p:cNvPr id="16" name="Shape 1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8B1040"/>
          </a:solidFill>
          <a:ln w="12700">
            <a:solidFill>
              <a:srgbClr val="8B1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" y="6492240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FFFFFF"/>
                </a:solidFill>
              </a:rPr>
              <a:t>21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9628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Zero Trust Security Framework for Healthcare Systems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177272" y="649224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</a:rPr>
              <a:t>AMRITA VISHWA VIDYAPEETHAM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507895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2945</Words>
  <Application>Microsoft Office PowerPoint</Application>
  <PresentationFormat>Widescreen</PresentationFormat>
  <Paragraphs>454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 Trust Security Framework for Healthcare Systems</dc:title>
  <dc:subject>PptxGenJS Presentation</dc:subject>
  <dc:creator>PptxGenJS</dc:creator>
  <cp:lastModifiedBy>Microsoft account</cp:lastModifiedBy>
  <cp:revision>16</cp:revision>
  <dcterms:created xsi:type="dcterms:W3CDTF">2026-05-08T23:23:06Z</dcterms:created>
  <dcterms:modified xsi:type="dcterms:W3CDTF">2026-05-12T14:09:10Z</dcterms:modified>
</cp:coreProperties>
</file>